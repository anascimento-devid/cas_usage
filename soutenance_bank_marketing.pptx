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Ouverture : présenter le problème comme un cas de décision sous contrainte métier, pas comme un concours de métriques. Annoncer le fil rouge : disponibilité des données, capacité d’appel, conformité, équité, exploitation.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Insister sur le décalage entre “prédire oui/non” et le vrai besoin : prioriser une population de campagne. Mentionner le déséquilibre 11,27 % et donc l’accuracy peu pertinente.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Ne pas s’attarder sur toutes les variables. Montrer que l’EDA sert à identifier fuite, redondances, qualité et risques de biais avant le modèle.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2" name="Shape 1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C’est un bon moment pour montrer le raisonnement : accepter de perdre de la performance apparente pour éviter une fuite. Dire que S1 devient uniquement une référence haute.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Shape 1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Présenter les scénarios comme une expérience contrôlée : chaque étape retire une famille de variables pour mesurer l’impact réel sur les performances et les risques.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6" name="Shape 2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Expliquer la tension : RF a un meilleur F1 à 0,5 mais ce seuil n’est pas le mode d’usage final. Transition naturelle vers top-k.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0" name="Shape 2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Dire explicitement : le seuil 0,5 reste utile pour analyser les erreurs, mais il ne doit pas décider la campagne. Le nouveau “seuil” est dynamique et dérivé de la capacité.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5" name="Shape 3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Expliquer que l’analyse top-k est faite en out-of-fold sur le train pour éviter de choisir la politique sur le test. Le 10 % est une hypothèse de capacité, pas une exigence client.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5" name="Shape 3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Ici répondre d’avance à “Pourquoi GB alors que RF avait un meilleur F1 ?” : le F1 à 0,5 n’est pas le mode d’usage. À capacité constante, GB est légèrement meilleur et plus léger.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1" name="Shape 3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C’est la slide business la plus importante. Rappeler que le test n’a pas servi au choix. Le message simple : 55 % vs 11 %, lift x4,88, moitié des souscripteurs captés avec seulement 10 % d’appels.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9" name="Shape 4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Cette slide montre une vraie démarche scientifique : on avait une intuition, on l’a testée, les chiffres l’ont infirmée, on a changé la stratégie.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4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4" name="Shape 4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Ne pas surinterpréter. “nr.employed” en tête ne veut pas dire que c’est causal. Cette slide prépare la suivante sur les biais indirects.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Shape 5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4" name="Shape 5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Rester prudent : ne pas conclure automatiquement à une discrimination. Dire que les 60+ souscrivent réellement plus, mais que le top-k accentue encore leur concentration de +9 points.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5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3" name="Shape 5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Point important : les règles anti-sur-sollicitation relèvent du CRM/processus de campagne, pas du Gradient Boosting. Le dire explicitement pour ne pas prétendre que c’est déjà codé.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5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1" name="Shape 5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Être prudent sur la base légale : “envisageable, à valider avec DPO/juridique”. Pour l’AI Act, bien préciser “dans cet usage précis”.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 6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01" name="Shape 6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Insister sur la séparation des responsabilités : train.py entraîne, FastAPI score, Streamlit démontre, la campagne classe les scores. Ne pas exposer /train.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9" name="Shape 6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Préciser que la capture est une démonstration. Les métriques métier du test servent à démontrer le mécanisme ; en production elles seraient alimentées par les résultats réels.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Shape 6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7" name="Shape 6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/>
            <a:r>
              <a:t>Finir en revenant au fil rouge. Laisser quelques secondes sur cette slide puis ouvrir les questions.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uméro de diapositiv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uméro de diapositive"/>
          <p:cNvSpPr txBox="1"/>
          <p:nvPr>
            <p:ph type="sldNum" sz="quarter" idx="2"/>
          </p:nvPr>
        </p:nvSpPr>
        <p:spPr>
          <a:xfrm>
            <a:off x="5892800" y="6356350"/>
            <a:ext cx="2844800" cy="3683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;p26"/>
          <p:cNvSpPr/>
          <p:nvPr/>
        </p:nvSpPr>
        <p:spPr>
          <a:xfrm>
            <a:off x="-1" y="6537959"/>
            <a:ext cx="12191697" cy="320041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" name="Google Shape;13;p26"/>
          <p:cNvSpPr txBox="1"/>
          <p:nvPr/>
        </p:nvSpPr>
        <p:spPr>
          <a:xfrm>
            <a:off x="411480" y="6620764"/>
            <a:ext cx="52120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/>
            <a:r>
              <a:t>Certification IA — Bank Marketing</a:t>
            </a:r>
          </a:p>
        </p:txBody>
      </p:sp>
      <p:sp>
        <p:nvSpPr>
          <p:cNvPr id="4" name="Texte du titre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Texte du titre</a:t>
            </a:r>
          </a:p>
        </p:txBody>
      </p:sp>
      <p:sp>
        <p:nvSpPr>
          <p:cNvPr id="5" name="Texte niveau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6" name="Numéro de diapositive"/>
          <p:cNvSpPr txBox="1"/>
          <p:nvPr>
            <p:ph type="sldNum" sz="quarter" idx="2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800">
                <a:solidFill>
                  <a:srgbClr val="64748B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1;p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80C18"/>
          </a:solidFill>
          <a:ln w="12700">
            <a:solidFill>
              <a:srgbClr val="080C18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0" name="Google Shape;22;p1"/>
          <p:cNvSpPr/>
          <p:nvPr/>
        </p:nvSpPr>
        <p:spPr>
          <a:xfrm>
            <a:off x="8412480" y="-1"/>
            <a:ext cx="3657601" cy="3657601"/>
          </a:xfrm>
          <a:prstGeom prst="ellipse">
            <a:avLst/>
          </a:prstGeom>
          <a:solidFill>
            <a:srgbClr val="123057">
              <a:alpha val="81961"/>
            </a:srgbClr>
          </a:solidFill>
          <a:ln w="12700">
            <a:solidFill>
              <a:srgbClr val="123057">
                <a:alpha val="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1" name="Google Shape;23;p1"/>
          <p:cNvSpPr/>
          <p:nvPr/>
        </p:nvSpPr>
        <p:spPr>
          <a:xfrm>
            <a:off x="9646919" y="960119"/>
            <a:ext cx="2331721" cy="2331722"/>
          </a:xfrm>
          <a:prstGeom prst="ellipse">
            <a:avLst/>
          </a:prstGeom>
          <a:solidFill>
            <a:srgbClr val="0F766E">
              <a:alpha val="65098"/>
            </a:srgbClr>
          </a:solidFill>
          <a:ln w="12700">
            <a:solidFill>
              <a:srgbClr val="0F766E">
                <a:alpha val="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2" name="Google Shape;24;p1"/>
          <p:cNvSpPr txBox="1"/>
          <p:nvPr/>
        </p:nvSpPr>
        <p:spPr>
          <a:xfrm>
            <a:off x="640079" y="1143000"/>
            <a:ext cx="7498082" cy="2011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3900">
                <a:solidFill>
                  <a:srgbClr val="F8FAFC"/>
                </a:solidFill>
              </a:defRPr>
            </a:pPr>
            <a:r>
              <a:t>Cibler une campagne</a:t>
            </a:r>
          </a:p>
          <a:p>
            <a:pPr>
              <a:defRPr b="1" sz="3900">
                <a:solidFill>
                  <a:srgbClr val="F8FAFC"/>
                </a:solidFill>
              </a:defRPr>
            </a:pPr>
            <a:r>
              <a:t>marketing bancaire</a:t>
            </a:r>
          </a:p>
          <a:p>
            <a:pPr>
              <a:defRPr b="1" sz="3900">
                <a:solidFill>
                  <a:srgbClr val="F8FAFC"/>
                </a:solidFill>
              </a:defRPr>
            </a:pPr>
            <a:r>
              <a:t>de manière responsable</a:t>
            </a:r>
          </a:p>
        </p:txBody>
      </p:sp>
      <p:sp>
        <p:nvSpPr>
          <p:cNvPr id="33" name="Google Shape;25;p1"/>
          <p:cNvSpPr txBox="1"/>
          <p:nvPr/>
        </p:nvSpPr>
        <p:spPr>
          <a:xfrm>
            <a:off x="667512" y="3615203"/>
            <a:ext cx="7132319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42E8C6"/>
                </a:solidFill>
              </a:defRPr>
            </a:lvl1pPr>
          </a:lstStyle>
          <a:p>
            <a:pPr/>
            <a:r>
              <a:t>Classification tabulaire • décision top-k • équité • industrialisation</a:t>
            </a:r>
          </a:p>
        </p:txBody>
      </p:sp>
      <p:sp>
        <p:nvSpPr>
          <p:cNvPr id="34" name="Google Shape;26;p1"/>
          <p:cNvSpPr txBox="1"/>
          <p:nvPr/>
        </p:nvSpPr>
        <p:spPr>
          <a:xfrm>
            <a:off x="667512" y="4211272"/>
            <a:ext cx="27432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Soutenance — 30 minutes</a:t>
            </a:r>
          </a:p>
        </p:txBody>
      </p:sp>
      <p:sp>
        <p:nvSpPr>
          <p:cNvPr id="35" name="Google Shape;27;p1"/>
          <p:cNvSpPr txBox="1"/>
          <p:nvPr/>
        </p:nvSpPr>
        <p:spPr>
          <a:xfrm>
            <a:off x="667511" y="4800599"/>
            <a:ext cx="7040882" cy="731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DCE5F2"/>
                </a:solidFill>
              </a:defRPr>
            </a:lvl1pPr>
          </a:lstStyle>
          <a:p>
            <a:pPr/>
            <a:r>
              <a:t>Fil rouge : transformer un problème de classification en une politique de ciblage réellement exploitable</a:t>
            </a:r>
          </a:p>
        </p:txBody>
      </p:sp>
      <p:sp>
        <p:nvSpPr>
          <p:cNvPr id="36" name="Google Shape;28;p1"/>
          <p:cNvSpPr txBox="1"/>
          <p:nvPr/>
        </p:nvSpPr>
        <p:spPr>
          <a:xfrm>
            <a:off x="9144000" y="5233830"/>
            <a:ext cx="228600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55C7FF"/>
                </a:solidFill>
              </a:defRPr>
            </a:lvl1pPr>
          </a:lstStyle>
          <a:p>
            <a:pPr/>
            <a:r>
              <a:t>BANK MARKETING</a:t>
            </a:r>
          </a:p>
        </p:txBody>
      </p:sp>
      <p:sp>
        <p:nvSpPr>
          <p:cNvPr id="37" name="Google Shape;29;p1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5;p2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2" name="Google Shape;36;p2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MÉTIER</a:t>
            </a:r>
          </a:p>
        </p:txBody>
      </p:sp>
      <p:sp>
        <p:nvSpPr>
          <p:cNvPr id="43" name="Google Shape;37;p2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Le problème : moins d’appels, mieux ciblés</a:t>
            </a:r>
          </a:p>
        </p:txBody>
      </p:sp>
      <p:sp>
        <p:nvSpPr>
          <p:cNvPr id="44" name="Google Shape;38;p2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Une banque de détail veut améliorer une campagne de dépôts à terme</a:t>
            </a:r>
          </a:p>
        </p:txBody>
      </p:sp>
      <p:sp>
        <p:nvSpPr>
          <p:cNvPr id="45" name="Google Shape;39;p2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6" name="Google Shape;40;p2"/>
          <p:cNvSpPr/>
          <p:nvPr/>
        </p:nvSpPr>
        <p:spPr>
          <a:xfrm>
            <a:off x="594359" y="1325880"/>
            <a:ext cx="2560322" cy="1298448"/>
          </a:xfrm>
          <a:prstGeom prst="roundRect">
            <a:avLst>
              <a:gd name="adj" fmla="val 5634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7" name="Google Shape;41;p2"/>
          <p:cNvSpPr/>
          <p:nvPr/>
        </p:nvSpPr>
        <p:spPr>
          <a:xfrm>
            <a:off x="594359" y="1325880"/>
            <a:ext cx="54865" cy="1298449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8" name="Google Shape;42;p2"/>
          <p:cNvSpPr txBox="1"/>
          <p:nvPr/>
        </p:nvSpPr>
        <p:spPr>
          <a:xfrm>
            <a:off x="795528" y="1509567"/>
            <a:ext cx="224028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Taux de souscription historique</a:t>
            </a:r>
          </a:p>
        </p:txBody>
      </p:sp>
      <p:sp>
        <p:nvSpPr>
          <p:cNvPr id="49" name="Google Shape;43;p2"/>
          <p:cNvSpPr txBox="1"/>
          <p:nvPr/>
        </p:nvSpPr>
        <p:spPr>
          <a:xfrm>
            <a:off x="795528" y="1805291"/>
            <a:ext cx="2240280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11,27 %</a:t>
            </a:r>
          </a:p>
        </p:txBody>
      </p:sp>
      <p:sp>
        <p:nvSpPr>
          <p:cNvPr id="50" name="Google Shape;44;p2"/>
          <p:cNvSpPr txBox="1"/>
          <p:nvPr/>
        </p:nvSpPr>
        <p:spPr>
          <a:xfrm>
            <a:off x="795528" y="2341372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Classe positive minoritaire</a:t>
            </a:r>
          </a:p>
        </p:txBody>
      </p:sp>
      <p:sp>
        <p:nvSpPr>
          <p:cNvPr id="51" name="Google Shape;45;p2"/>
          <p:cNvSpPr/>
          <p:nvPr/>
        </p:nvSpPr>
        <p:spPr>
          <a:xfrm>
            <a:off x="3355847" y="1325880"/>
            <a:ext cx="2560321" cy="1298448"/>
          </a:xfrm>
          <a:prstGeom prst="roundRect">
            <a:avLst>
              <a:gd name="adj" fmla="val 5634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2" name="Google Shape;46;p2"/>
          <p:cNvSpPr/>
          <p:nvPr/>
        </p:nvSpPr>
        <p:spPr>
          <a:xfrm>
            <a:off x="3355847" y="1325880"/>
            <a:ext cx="54865" cy="1298449"/>
          </a:xfrm>
          <a:prstGeom prst="rect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3" name="Google Shape;47;p2"/>
          <p:cNvSpPr txBox="1"/>
          <p:nvPr/>
        </p:nvSpPr>
        <p:spPr>
          <a:xfrm>
            <a:off x="3557015" y="1509567"/>
            <a:ext cx="224028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Observations</a:t>
            </a:r>
          </a:p>
        </p:txBody>
      </p:sp>
      <p:sp>
        <p:nvSpPr>
          <p:cNvPr id="54" name="Google Shape;48;p2"/>
          <p:cNvSpPr txBox="1"/>
          <p:nvPr/>
        </p:nvSpPr>
        <p:spPr>
          <a:xfrm>
            <a:off x="3557015" y="1805291"/>
            <a:ext cx="2240281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41 188</a:t>
            </a:r>
          </a:p>
        </p:txBody>
      </p:sp>
      <p:sp>
        <p:nvSpPr>
          <p:cNvPr id="55" name="Google Shape;49;p2"/>
          <p:cNvSpPr txBox="1"/>
          <p:nvPr/>
        </p:nvSpPr>
        <p:spPr>
          <a:xfrm>
            <a:off x="3557015" y="2341372"/>
            <a:ext cx="2240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20 variables explicatives</a:t>
            </a:r>
          </a:p>
        </p:txBody>
      </p:sp>
      <p:sp>
        <p:nvSpPr>
          <p:cNvPr id="56" name="Google Shape;50;p2"/>
          <p:cNvSpPr/>
          <p:nvPr/>
        </p:nvSpPr>
        <p:spPr>
          <a:xfrm>
            <a:off x="6117335" y="1325880"/>
            <a:ext cx="2560321" cy="1298448"/>
          </a:xfrm>
          <a:prstGeom prst="roundRect">
            <a:avLst>
              <a:gd name="adj" fmla="val 5634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7" name="Google Shape;51;p2"/>
          <p:cNvSpPr/>
          <p:nvPr/>
        </p:nvSpPr>
        <p:spPr>
          <a:xfrm>
            <a:off x="6117335" y="1325880"/>
            <a:ext cx="54865" cy="1298449"/>
          </a:xfrm>
          <a:prstGeom prst="rect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8" name="Google Shape;52;p2"/>
          <p:cNvSpPr txBox="1"/>
          <p:nvPr/>
        </p:nvSpPr>
        <p:spPr>
          <a:xfrm>
            <a:off x="6318503" y="1509567"/>
            <a:ext cx="224028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Objectif opérationnel</a:t>
            </a:r>
          </a:p>
        </p:txBody>
      </p:sp>
      <p:sp>
        <p:nvSpPr>
          <p:cNvPr id="59" name="Google Shape;53;p2"/>
          <p:cNvSpPr txBox="1"/>
          <p:nvPr/>
        </p:nvSpPr>
        <p:spPr>
          <a:xfrm>
            <a:off x="6318503" y="1805291"/>
            <a:ext cx="2240281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Avant l’appel</a:t>
            </a:r>
          </a:p>
        </p:txBody>
      </p:sp>
      <p:sp>
        <p:nvSpPr>
          <p:cNvPr id="60" name="Google Shape;54;p2"/>
          <p:cNvSpPr txBox="1"/>
          <p:nvPr/>
        </p:nvSpPr>
        <p:spPr>
          <a:xfrm>
            <a:off x="6318503" y="2341372"/>
            <a:ext cx="2240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Aucune information post-contact</a:t>
            </a:r>
          </a:p>
        </p:txBody>
      </p:sp>
      <p:sp>
        <p:nvSpPr>
          <p:cNvPr id="61" name="Google Shape;55;p2"/>
          <p:cNvSpPr/>
          <p:nvPr/>
        </p:nvSpPr>
        <p:spPr>
          <a:xfrm>
            <a:off x="8878823" y="1325880"/>
            <a:ext cx="2560322" cy="1298448"/>
          </a:xfrm>
          <a:prstGeom prst="roundRect">
            <a:avLst>
              <a:gd name="adj" fmla="val 5634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2" name="Google Shape;56;p2"/>
          <p:cNvSpPr/>
          <p:nvPr/>
        </p:nvSpPr>
        <p:spPr>
          <a:xfrm>
            <a:off x="8878823" y="1325880"/>
            <a:ext cx="54865" cy="1298449"/>
          </a:xfrm>
          <a:prstGeom prst="rect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3" name="Google Shape;57;p2"/>
          <p:cNvSpPr txBox="1"/>
          <p:nvPr/>
        </p:nvSpPr>
        <p:spPr>
          <a:xfrm>
            <a:off x="9079992" y="1509567"/>
            <a:ext cx="224028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Décision finale</a:t>
            </a:r>
          </a:p>
        </p:txBody>
      </p:sp>
      <p:sp>
        <p:nvSpPr>
          <p:cNvPr id="64" name="Google Shape;58;p2"/>
          <p:cNvSpPr txBox="1"/>
          <p:nvPr/>
        </p:nvSpPr>
        <p:spPr>
          <a:xfrm>
            <a:off x="9079992" y="1805291"/>
            <a:ext cx="2240281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Top 10 %</a:t>
            </a:r>
          </a:p>
        </p:txBody>
      </p:sp>
      <p:sp>
        <p:nvSpPr>
          <p:cNvPr id="65" name="Google Shape;59;p2"/>
          <p:cNvSpPr txBox="1"/>
          <p:nvPr/>
        </p:nvSpPr>
        <p:spPr>
          <a:xfrm>
            <a:off x="9079992" y="2341372"/>
            <a:ext cx="2240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Hypothèse de capacité</a:t>
            </a:r>
          </a:p>
        </p:txBody>
      </p:sp>
      <p:sp>
        <p:nvSpPr>
          <p:cNvPr id="66" name="Google Shape;60;p2"/>
          <p:cNvSpPr txBox="1"/>
          <p:nvPr/>
        </p:nvSpPr>
        <p:spPr>
          <a:xfrm>
            <a:off x="658368" y="3154679"/>
            <a:ext cx="10881360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100">
                <a:solidFill>
                  <a:srgbClr val="F8FAFC"/>
                </a:solidFill>
              </a:defRPr>
            </a:lvl1pPr>
          </a:lstStyle>
          <a:p>
            <a:pPr/>
            <a:r>
              <a:t>Le coût réel n’est pas une erreur de classification abstraite : c’est un appel inutile, un client sur-sollicité ou une opportunité manquée</a:t>
            </a:r>
          </a:p>
        </p:txBody>
      </p:sp>
      <p:sp>
        <p:nvSpPr>
          <p:cNvPr id="67" name="Google Shape;61;p2"/>
          <p:cNvSpPr txBox="1"/>
          <p:nvPr/>
        </p:nvSpPr>
        <p:spPr>
          <a:xfrm>
            <a:off x="1142999" y="4160520"/>
            <a:ext cx="9784082" cy="1554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Réduire les faux positifs pour limiter les sollicitations inutiles</a:t>
            </a:r>
          </a:p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Conserver suffisamment de rappel pour ne pas ignorer les souscripteurs potentiels</a:t>
            </a:r>
          </a:p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Ne prédire qu’avec les données disponibles avant la prise de contact</a:t>
            </a:r>
          </a:p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Surveiller les écarts de comportement entre groupes de clients</a:t>
            </a:r>
          </a:p>
        </p:txBody>
      </p:sp>
      <p:sp>
        <p:nvSpPr>
          <p:cNvPr id="68" name="Google Shape;62;p2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68;p3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Google Shape;69;p3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DONNÉES</a:t>
            </a:r>
          </a:p>
        </p:txBody>
      </p:sp>
      <p:sp>
        <p:nvSpPr>
          <p:cNvPr id="74" name="Google Shape;70;p3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Un dataset riche… mais une cible très déséquilibrée</a:t>
            </a:r>
          </a:p>
        </p:txBody>
      </p:sp>
      <p:sp>
        <p:nvSpPr>
          <p:cNvPr id="75" name="Google Shape;71;p3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UCI Bank Marketing — 41 188 lignes, 20 variables explicatives</a:t>
            </a:r>
          </a:p>
        </p:txBody>
      </p:sp>
      <p:sp>
        <p:nvSpPr>
          <p:cNvPr id="76" name="Google Shape;72;p3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7" name="Google Shape;73;p3"/>
          <p:cNvSpPr/>
          <p:nvPr/>
        </p:nvSpPr>
        <p:spPr>
          <a:xfrm>
            <a:off x="868679" y="1417319"/>
            <a:ext cx="2331722" cy="2331722"/>
          </a:xfrm>
          <a:prstGeom prst="ellipse">
            <a:avLst/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grpSp>
        <p:nvGrpSpPr>
          <p:cNvPr id="80" name="Google Shape;74;p3"/>
          <p:cNvGrpSpPr/>
          <p:nvPr/>
        </p:nvGrpSpPr>
        <p:grpSpPr>
          <a:xfrm>
            <a:off x="2034539" y="1527047"/>
            <a:ext cx="1056134" cy="1056133"/>
            <a:chOff x="0" y="0"/>
            <a:chExt cx="1056132" cy="1056132"/>
          </a:xfrm>
        </p:grpSpPr>
        <p:sp>
          <p:nvSpPr>
            <p:cNvPr id="78" name="Figure"/>
            <p:cNvSpPr/>
            <p:nvPr/>
          </p:nvSpPr>
          <p:spPr>
            <a:xfrm>
              <a:off x="0" y="0"/>
              <a:ext cx="1056133" cy="10561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  <p:sp>
          <p:nvSpPr>
            <p:cNvPr id="79" name="Ligne"/>
            <p:cNvSpPr/>
            <p:nvPr/>
          </p:nvSpPr>
          <p:spPr>
            <a:xfrm>
              <a:off x="0" y="0"/>
              <a:ext cx="1056133" cy="10561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</a:pathLst>
            </a:custGeom>
            <a:noFill/>
            <a:ln w="228600" cap="flat">
              <a:solidFill>
                <a:srgbClr val="42E8C6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/>
            </a:p>
          </p:txBody>
        </p:sp>
      </p:grpSp>
      <p:sp>
        <p:nvSpPr>
          <p:cNvPr id="81" name="Google Shape;75;p3"/>
          <p:cNvSpPr txBox="1"/>
          <p:nvPr/>
        </p:nvSpPr>
        <p:spPr>
          <a:xfrm>
            <a:off x="1234439" y="2140271"/>
            <a:ext cx="1554481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600">
                <a:solidFill>
                  <a:srgbClr val="F8FAFC"/>
                </a:solidFill>
              </a:defRPr>
            </a:lvl1pPr>
          </a:lstStyle>
          <a:p>
            <a:pPr/>
            <a:r>
              <a:t>11,27 %</a:t>
            </a:r>
          </a:p>
        </p:txBody>
      </p:sp>
      <p:sp>
        <p:nvSpPr>
          <p:cNvPr id="82" name="Google Shape;76;p3"/>
          <p:cNvSpPr txBox="1"/>
          <p:nvPr/>
        </p:nvSpPr>
        <p:spPr>
          <a:xfrm>
            <a:off x="1417319" y="2583640"/>
            <a:ext cx="118872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42E8C6"/>
                </a:solidFill>
              </a:defRPr>
            </a:lvl1pPr>
          </a:lstStyle>
          <a:p>
            <a:pPr/>
            <a:r>
              <a:t>“yes”</a:t>
            </a:r>
          </a:p>
        </p:txBody>
      </p:sp>
      <p:sp>
        <p:nvSpPr>
          <p:cNvPr id="83" name="Google Shape;77;p3"/>
          <p:cNvSpPr/>
          <p:nvPr/>
        </p:nvSpPr>
        <p:spPr>
          <a:xfrm>
            <a:off x="3703320" y="1325880"/>
            <a:ext cx="3840480" cy="658369"/>
          </a:xfrm>
          <a:prstGeom prst="roundRect">
            <a:avLst>
              <a:gd name="adj" fmla="val 9722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4" name="Google Shape;78;p3"/>
          <p:cNvSpPr/>
          <p:nvPr/>
        </p:nvSpPr>
        <p:spPr>
          <a:xfrm>
            <a:off x="3703320" y="1325880"/>
            <a:ext cx="54865" cy="658369"/>
          </a:xfrm>
          <a:prstGeom prst="rect">
            <a:avLst/>
          </a:prstGeom>
          <a:solidFill>
            <a:srgbClr val="FF7C9D"/>
          </a:solidFill>
          <a:ln w="12700">
            <a:solidFill>
              <a:srgbClr val="FF7C9D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5" name="Google Shape;79;p3"/>
          <p:cNvSpPr txBox="1"/>
          <p:nvPr/>
        </p:nvSpPr>
        <p:spPr>
          <a:xfrm>
            <a:off x="3858767" y="1453133"/>
            <a:ext cx="11887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Socio-démo</a:t>
            </a:r>
          </a:p>
        </p:txBody>
      </p:sp>
      <p:sp>
        <p:nvSpPr>
          <p:cNvPr id="86" name="Google Shape;80;p3"/>
          <p:cNvSpPr txBox="1"/>
          <p:nvPr/>
        </p:nvSpPr>
        <p:spPr>
          <a:xfrm>
            <a:off x="5029199" y="1417319"/>
            <a:ext cx="233172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8EA0B8"/>
                </a:solidFill>
              </a:defRPr>
            </a:lvl1pPr>
          </a:lstStyle>
          <a:p>
            <a:pPr/>
            <a:r>
              <a:t>age • job • marital • education</a:t>
            </a:r>
          </a:p>
        </p:txBody>
      </p:sp>
      <p:sp>
        <p:nvSpPr>
          <p:cNvPr id="87" name="Google Shape;81;p3"/>
          <p:cNvSpPr/>
          <p:nvPr/>
        </p:nvSpPr>
        <p:spPr>
          <a:xfrm>
            <a:off x="3703320" y="2112264"/>
            <a:ext cx="3840480" cy="658369"/>
          </a:xfrm>
          <a:prstGeom prst="roundRect">
            <a:avLst>
              <a:gd name="adj" fmla="val 9722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8" name="Google Shape;82;p3"/>
          <p:cNvSpPr/>
          <p:nvPr/>
        </p:nvSpPr>
        <p:spPr>
          <a:xfrm>
            <a:off x="3703320" y="2112264"/>
            <a:ext cx="54865" cy="658369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9" name="Google Shape;83;p3"/>
          <p:cNvSpPr txBox="1"/>
          <p:nvPr/>
        </p:nvSpPr>
        <p:spPr>
          <a:xfrm>
            <a:off x="3858767" y="2239517"/>
            <a:ext cx="11887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Banque</a:t>
            </a:r>
          </a:p>
        </p:txBody>
      </p:sp>
      <p:sp>
        <p:nvSpPr>
          <p:cNvPr id="90" name="Google Shape;84;p3"/>
          <p:cNvSpPr txBox="1"/>
          <p:nvPr/>
        </p:nvSpPr>
        <p:spPr>
          <a:xfrm>
            <a:off x="5029199" y="2203704"/>
            <a:ext cx="233172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8EA0B8"/>
                </a:solidFill>
              </a:defRPr>
            </a:lvl1pPr>
          </a:lstStyle>
          <a:p>
            <a:pPr/>
            <a:r>
              <a:t>default • housing • loan</a:t>
            </a:r>
          </a:p>
        </p:txBody>
      </p:sp>
      <p:sp>
        <p:nvSpPr>
          <p:cNvPr id="91" name="Google Shape;85;p3"/>
          <p:cNvSpPr/>
          <p:nvPr/>
        </p:nvSpPr>
        <p:spPr>
          <a:xfrm>
            <a:off x="3703320" y="2898648"/>
            <a:ext cx="3840480" cy="658369"/>
          </a:xfrm>
          <a:prstGeom prst="roundRect">
            <a:avLst>
              <a:gd name="adj" fmla="val 9722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2" name="Google Shape;86;p3"/>
          <p:cNvSpPr/>
          <p:nvPr/>
        </p:nvSpPr>
        <p:spPr>
          <a:xfrm>
            <a:off x="3703320" y="2898648"/>
            <a:ext cx="54865" cy="658369"/>
          </a:xfrm>
          <a:prstGeom prst="rect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3" name="Google Shape;87;p3"/>
          <p:cNvSpPr txBox="1"/>
          <p:nvPr/>
        </p:nvSpPr>
        <p:spPr>
          <a:xfrm>
            <a:off x="3858767" y="3025901"/>
            <a:ext cx="11887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Contact</a:t>
            </a:r>
          </a:p>
        </p:txBody>
      </p:sp>
      <p:sp>
        <p:nvSpPr>
          <p:cNvPr id="94" name="Google Shape;88;p3"/>
          <p:cNvSpPr txBox="1"/>
          <p:nvPr/>
        </p:nvSpPr>
        <p:spPr>
          <a:xfrm>
            <a:off x="5029199" y="2990088"/>
            <a:ext cx="233172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8EA0B8"/>
                </a:solidFill>
              </a:defRPr>
            </a:lvl1pPr>
          </a:lstStyle>
          <a:p>
            <a:pPr/>
            <a:r>
              <a:t>contact • month • day_of_week • duration</a:t>
            </a:r>
          </a:p>
        </p:txBody>
      </p:sp>
      <p:sp>
        <p:nvSpPr>
          <p:cNvPr id="95" name="Google Shape;89;p3"/>
          <p:cNvSpPr/>
          <p:nvPr/>
        </p:nvSpPr>
        <p:spPr>
          <a:xfrm>
            <a:off x="3703320" y="3685032"/>
            <a:ext cx="3840480" cy="658369"/>
          </a:xfrm>
          <a:prstGeom prst="roundRect">
            <a:avLst>
              <a:gd name="adj" fmla="val 9722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6" name="Google Shape;90;p3"/>
          <p:cNvSpPr/>
          <p:nvPr/>
        </p:nvSpPr>
        <p:spPr>
          <a:xfrm>
            <a:off x="3703320" y="3685032"/>
            <a:ext cx="54865" cy="658369"/>
          </a:xfrm>
          <a:prstGeom prst="rect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7" name="Google Shape;91;p3"/>
          <p:cNvSpPr txBox="1"/>
          <p:nvPr/>
        </p:nvSpPr>
        <p:spPr>
          <a:xfrm>
            <a:off x="3858767" y="3812284"/>
            <a:ext cx="118872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Historique</a:t>
            </a:r>
          </a:p>
        </p:txBody>
      </p:sp>
      <p:sp>
        <p:nvSpPr>
          <p:cNvPr id="98" name="Google Shape;92;p3"/>
          <p:cNvSpPr txBox="1"/>
          <p:nvPr/>
        </p:nvSpPr>
        <p:spPr>
          <a:xfrm>
            <a:off x="5029199" y="3776471"/>
            <a:ext cx="233172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8EA0B8"/>
                </a:solidFill>
              </a:defRPr>
            </a:lvl1pPr>
          </a:lstStyle>
          <a:p>
            <a:pPr/>
            <a:r>
              <a:t>campaign • pdays • previous • poutcome</a:t>
            </a:r>
          </a:p>
        </p:txBody>
      </p:sp>
      <p:sp>
        <p:nvSpPr>
          <p:cNvPr id="99" name="Google Shape;93;p3"/>
          <p:cNvSpPr/>
          <p:nvPr/>
        </p:nvSpPr>
        <p:spPr>
          <a:xfrm>
            <a:off x="3703320" y="4471415"/>
            <a:ext cx="3840480" cy="658369"/>
          </a:xfrm>
          <a:prstGeom prst="roundRect">
            <a:avLst>
              <a:gd name="adj" fmla="val 9722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00" name="Google Shape;94;p3"/>
          <p:cNvSpPr/>
          <p:nvPr/>
        </p:nvSpPr>
        <p:spPr>
          <a:xfrm>
            <a:off x="3703320" y="4471415"/>
            <a:ext cx="54865" cy="658369"/>
          </a:xfrm>
          <a:prstGeom prst="rect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01" name="Google Shape;95;p3"/>
          <p:cNvSpPr txBox="1"/>
          <p:nvPr/>
        </p:nvSpPr>
        <p:spPr>
          <a:xfrm>
            <a:off x="3858767" y="4598669"/>
            <a:ext cx="11887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Macro-éco</a:t>
            </a:r>
          </a:p>
        </p:txBody>
      </p:sp>
      <p:sp>
        <p:nvSpPr>
          <p:cNvPr id="102" name="Google Shape;96;p3"/>
          <p:cNvSpPr txBox="1"/>
          <p:nvPr/>
        </p:nvSpPr>
        <p:spPr>
          <a:xfrm>
            <a:off x="5029199" y="4562855"/>
            <a:ext cx="2331722" cy="347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8EA0B8"/>
                </a:solidFill>
              </a:defRPr>
            </a:lvl1pPr>
          </a:lstStyle>
          <a:p>
            <a:pPr/>
            <a:r>
              <a:t>emp.var.rate • euribor3m • nr.employed…</a:t>
            </a:r>
          </a:p>
        </p:txBody>
      </p:sp>
      <p:sp>
        <p:nvSpPr>
          <p:cNvPr id="103" name="Google Shape;97;p3"/>
          <p:cNvSpPr/>
          <p:nvPr/>
        </p:nvSpPr>
        <p:spPr>
          <a:xfrm>
            <a:off x="7955280" y="1325880"/>
            <a:ext cx="3291841" cy="3886201"/>
          </a:xfrm>
          <a:prstGeom prst="roundRect">
            <a:avLst>
              <a:gd name="adj" fmla="val 2222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04" name="Google Shape;98;p3"/>
          <p:cNvSpPr txBox="1"/>
          <p:nvPr/>
        </p:nvSpPr>
        <p:spPr>
          <a:xfrm>
            <a:off x="8211311" y="1632179"/>
            <a:ext cx="2560322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8FAFC"/>
                </a:solidFill>
              </a:defRPr>
            </a:lvl1pPr>
          </a:lstStyle>
          <a:p>
            <a:pPr/>
            <a:r>
              <a:t>Points de vigilance</a:t>
            </a:r>
          </a:p>
        </p:txBody>
      </p:sp>
      <p:sp>
        <p:nvSpPr>
          <p:cNvPr id="105" name="Google Shape;99;p3"/>
          <p:cNvSpPr txBox="1"/>
          <p:nvPr/>
        </p:nvSpPr>
        <p:spPr>
          <a:xfrm>
            <a:off x="8229599" y="2057399"/>
            <a:ext cx="2697482" cy="2697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12 doublons exacts sans identifiant client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Modalité “unknown” présente sur plusieurs variables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pdays = 999 signifie “jamais contacté auparavant”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Fortes corrélations entre variables macro-économiques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Différences de souscription selon âge et profession</a:t>
            </a:r>
          </a:p>
        </p:txBody>
      </p:sp>
      <p:sp>
        <p:nvSpPr>
          <p:cNvPr id="106" name="Google Shape;100;p3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06;p4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FF7C9D"/>
          </a:solidFill>
          <a:ln w="12700">
            <a:solidFill>
              <a:srgbClr val="FF7C9D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11" name="Google Shape;107;p4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DÉCISION CLÉ</a:t>
            </a:r>
          </a:p>
        </p:txBody>
      </p:sp>
      <p:sp>
        <p:nvSpPr>
          <p:cNvPr id="112" name="Google Shape;108;p4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`duration` : la meilleure variable… qu’on ne peut pas utiliser</a:t>
            </a:r>
          </a:p>
        </p:txBody>
      </p:sp>
      <p:sp>
        <p:nvSpPr>
          <p:cNvPr id="113" name="Google Shape;109;p4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Elle n’est connue qu’après la fin de l’appel</a:t>
            </a:r>
          </a:p>
        </p:txBody>
      </p:sp>
      <p:sp>
        <p:nvSpPr>
          <p:cNvPr id="114" name="Google Shape;110;p4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5" name="Google Shape;111;p4"/>
          <p:cNvSpPr/>
          <p:nvPr/>
        </p:nvSpPr>
        <p:spPr>
          <a:xfrm>
            <a:off x="777240" y="1417319"/>
            <a:ext cx="4800601" cy="4434842"/>
          </a:xfrm>
          <a:prstGeom prst="roundRect">
            <a:avLst>
              <a:gd name="adj" fmla="val 1649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16" name="Google Shape;112;p4"/>
          <p:cNvSpPr txBox="1"/>
          <p:nvPr/>
        </p:nvSpPr>
        <p:spPr>
          <a:xfrm>
            <a:off x="1051559" y="1772341"/>
            <a:ext cx="2560322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800">
                <a:solidFill>
                  <a:srgbClr val="F8FAFC"/>
                </a:solidFill>
              </a:defRPr>
            </a:lvl1pPr>
          </a:lstStyle>
          <a:p>
            <a:pPr/>
            <a:r>
              <a:t>S1 — avec `duration`</a:t>
            </a:r>
          </a:p>
        </p:txBody>
      </p:sp>
      <p:sp>
        <p:nvSpPr>
          <p:cNvPr id="117" name="Google Shape;113;p4"/>
          <p:cNvSpPr/>
          <p:nvPr/>
        </p:nvSpPr>
        <p:spPr>
          <a:xfrm>
            <a:off x="1051560" y="2286000"/>
            <a:ext cx="1298449" cy="1097281"/>
          </a:xfrm>
          <a:prstGeom prst="roundRect">
            <a:avLst>
              <a:gd name="adj" fmla="val 6667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18" name="Google Shape;114;p4"/>
          <p:cNvSpPr/>
          <p:nvPr/>
        </p:nvSpPr>
        <p:spPr>
          <a:xfrm>
            <a:off x="1051560" y="2285999"/>
            <a:ext cx="54865" cy="1097282"/>
          </a:xfrm>
          <a:prstGeom prst="rect">
            <a:avLst/>
          </a:prstGeom>
          <a:solidFill>
            <a:srgbClr val="FF7C9D"/>
          </a:solidFill>
          <a:ln w="12700">
            <a:solidFill>
              <a:srgbClr val="FF7C9D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19" name="Google Shape;115;p4"/>
          <p:cNvSpPr txBox="1"/>
          <p:nvPr/>
        </p:nvSpPr>
        <p:spPr>
          <a:xfrm>
            <a:off x="1252727" y="2469687"/>
            <a:ext cx="97840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F1 CV</a:t>
            </a:r>
          </a:p>
        </p:txBody>
      </p:sp>
      <p:sp>
        <p:nvSpPr>
          <p:cNvPr id="120" name="Google Shape;116;p4"/>
          <p:cNvSpPr txBox="1"/>
          <p:nvPr/>
        </p:nvSpPr>
        <p:spPr>
          <a:xfrm>
            <a:off x="1252727" y="2765411"/>
            <a:ext cx="978409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0,581</a:t>
            </a:r>
          </a:p>
        </p:txBody>
      </p:sp>
      <p:sp>
        <p:nvSpPr>
          <p:cNvPr id="121" name="Google Shape;117;p4"/>
          <p:cNvSpPr/>
          <p:nvPr/>
        </p:nvSpPr>
        <p:spPr>
          <a:xfrm>
            <a:off x="2487167" y="2286000"/>
            <a:ext cx="1298449" cy="1097281"/>
          </a:xfrm>
          <a:prstGeom prst="roundRect">
            <a:avLst>
              <a:gd name="adj" fmla="val 6667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22" name="Google Shape;118;p4"/>
          <p:cNvSpPr/>
          <p:nvPr/>
        </p:nvSpPr>
        <p:spPr>
          <a:xfrm>
            <a:off x="2487167" y="2285999"/>
            <a:ext cx="54865" cy="1097282"/>
          </a:xfrm>
          <a:prstGeom prst="rect">
            <a:avLst/>
          </a:prstGeom>
          <a:solidFill>
            <a:srgbClr val="FF7C9D"/>
          </a:solidFill>
          <a:ln w="12700">
            <a:solidFill>
              <a:srgbClr val="FF7C9D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23" name="Google Shape;119;p4"/>
          <p:cNvSpPr txBox="1"/>
          <p:nvPr/>
        </p:nvSpPr>
        <p:spPr>
          <a:xfrm>
            <a:off x="2688335" y="2469687"/>
            <a:ext cx="97840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Précision</a:t>
            </a:r>
          </a:p>
        </p:txBody>
      </p:sp>
      <p:sp>
        <p:nvSpPr>
          <p:cNvPr id="124" name="Google Shape;120;p4"/>
          <p:cNvSpPr txBox="1"/>
          <p:nvPr/>
        </p:nvSpPr>
        <p:spPr>
          <a:xfrm>
            <a:off x="2688335" y="2765411"/>
            <a:ext cx="978409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0,658</a:t>
            </a:r>
          </a:p>
        </p:txBody>
      </p:sp>
      <p:sp>
        <p:nvSpPr>
          <p:cNvPr id="125" name="Google Shape;121;p4"/>
          <p:cNvSpPr/>
          <p:nvPr/>
        </p:nvSpPr>
        <p:spPr>
          <a:xfrm>
            <a:off x="3922776" y="2286000"/>
            <a:ext cx="1298449" cy="1097281"/>
          </a:xfrm>
          <a:prstGeom prst="roundRect">
            <a:avLst>
              <a:gd name="adj" fmla="val 6667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26" name="Google Shape;122;p4"/>
          <p:cNvSpPr/>
          <p:nvPr/>
        </p:nvSpPr>
        <p:spPr>
          <a:xfrm>
            <a:off x="3922776" y="2285999"/>
            <a:ext cx="54865" cy="1097282"/>
          </a:xfrm>
          <a:prstGeom prst="rect">
            <a:avLst/>
          </a:prstGeom>
          <a:solidFill>
            <a:srgbClr val="FF7C9D"/>
          </a:solidFill>
          <a:ln w="12700">
            <a:solidFill>
              <a:srgbClr val="FF7C9D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27" name="Google Shape;123;p4"/>
          <p:cNvSpPr txBox="1"/>
          <p:nvPr/>
        </p:nvSpPr>
        <p:spPr>
          <a:xfrm>
            <a:off x="4123944" y="2469687"/>
            <a:ext cx="97840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ROC-AUC</a:t>
            </a:r>
          </a:p>
        </p:txBody>
      </p:sp>
      <p:sp>
        <p:nvSpPr>
          <p:cNvPr id="128" name="Google Shape;124;p4"/>
          <p:cNvSpPr txBox="1"/>
          <p:nvPr/>
        </p:nvSpPr>
        <p:spPr>
          <a:xfrm>
            <a:off x="4123944" y="2765411"/>
            <a:ext cx="978409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0,945</a:t>
            </a:r>
          </a:p>
        </p:txBody>
      </p:sp>
      <p:sp>
        <p:nvSpPr>
          <p:cNvPr id="129" name="Google Shape;125;p4"/>
          <p:cNvSpPr txBox="1"/>
          <p:nvPr/>
        </p:nvSpPr>
        <p:spPr>
          <a:xfrm>
            <a:off x="1097280" y="3870889"/>
            <a:ext cx="18288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800">
                <a:solidFill>
                  <a:srgbClr val="FF7C9D"/>
                </a:solidFill>
              </a:defRPr>
            </a:lvl1pPr>
          </a:lstStyle>
          <a:p>
            <a:pPr/>
            <a:r>
              <a:t>Très performant</a:t>
            </a:r>
          </a:p>
        </p:txBody>
      </p:sp>
      <p:sp>
        <p:nvSpPr>
          <p:cNvPr id="130" name="Google Shape;126;p4"/>
          <p:cNvSpPr txBox="1"/>
          <p:nvPr/>
        </p:nvSpPr>
        <p:spPr>
          <a:xfrm>
            <a:off x="1097280" y="4343399"/>
            <a:ext cx="3886201" cy="731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900">
                <a:solidFill>
                  <a:srgbClr val="F8FAFC"/>
                </a:solidFill>
              </a:defRPr>
            </a:lvl1pPr>
          </a:lstStyle>
          <a:p>
            <a:pPr/>
            <a:r>
              <a:t>…mais inutilisable pour décider qui appeler avant l’appel</a:t>
            </a:r>
          </a:p>
        </p:txBody>
      </p:sp>
      <p:sp>
        <p:nvSpPr>
          <p:cNvPr id="131" name="Google Shape;127;p4"/>
          <p:cNvSpPr/>
          <p:nvPr/>
        </p:nvSpPr>
        <p:spPr>
          <a:xfrm>
            <a:off x="5806440" y="3246120"/>
            <a:ext cx="731521" cy="1"/>
          </a:xfrm>
          <a:prstGeom prst="line">
            <a:avLst/>
          </a:prstGeom>
          <a:ln w="38100">
            <a:solidFill>
              <a:srgbClr val="FF7C9D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2" name="Google Shape;128;p4"/>
          <p:cNvSpPr/>
          <p:nvPr/>
        </p:nvSpPr>
        <p:spPr>
          <a:xfrm>
            <a:off x="6720840" y="1417319"/>
            <a:ext cx="4617721" cy="4434842"/>
          </a:xfrm>
          <a:prstGeom prst="roundRect">
            <a:avLst>
              <a:gd name="adj" fmla="val 1649"/>
            </a:avLst>
          </a:prstGeom>
          <a:solidFill>
            <a:srgbClr val="102A2C"/>
          </a:solidFill>
          <a:ln w="15225">
            <a:solidFill>
              <a:srgbClr val="155E75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33" name="Google Shape;129;p4"/>
          <p:cNvSpPr txBox="1"/>
          <p:nvPr/>
        </p:nvSpPr>
        <p:spPr>
          <a:xfrm>
            <a:off x="7059168" y="1781485"/>
            <a:ext cx="329184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800">
                <a:solidFill>
                  <a:srgbClr val="42E8C6"/>
                </a:solidFill>
              </a:defRPr>
            </a:lvl1pPr>
          </a:lstStyle>
          <a:p>
            <a:pPr/>
            <a:r>
              <a:t>Décision méthodologique</a:t>
            </a:r>
          </a:p>
        </p:txBody>
      </p:sp>
      <p:sp>
        <p:nvSpPr>
          <p:cNvPr id="134" name="Google Shape;130;p4"/>
          <p:cNvSpPr txBox="1"/>
          <p:nvPr/>
        </p:nvSpPr>
        <p:spPr>
          <a:xfrm>
            <a:off x="7059168" y="2304288"/>
            <a:ext cx="3749041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22376">
              <a:defRPr b="1" sz="1738">
                <a:solidFill>
                  <a:srgbClr val="F8FAFC"/>
                </a:solidFill>
              </a:defRPr>
            </a:lvl1pPr>
          </a:lstStyle>
          <a:p>
            <a:pPr/>
            <a:r>
              <a:t>Le modèle déployable doit être entraîné sans toute variable inconnue au moment de la décision</a:t>
            </a:r>
          </a:p>
        </p:txBody>
      </p:sp>
      <p:sp>
        <p:nvSpPr>
          <p:cNvPr id="135" name="Google Shape;131;p4"/>
          <p:cNvSpPr/>
          <p:nvPr/>
        </p:nvSpPr>
        <p:spPr>
          <a:xfrm>
            <a:off x="7086600" y="3703320"/>
            <a:ext cx="1920240" cy="292609"/>
          </a:xfrm>
          <a:prstGeom prst="roundRect">
            <a:avLst>
              <a:gd name="adj" fmla="val 31250"/>
            </a:avLst>
          </a:prstGeom>
          <a:solidFill>
            <a:srgbClr val="162033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36" name="Google Shape;132;p4"/>
          <p:cNvSpPr txBox="1"/>
          <p:nvPr/>
        </p:nvSpPr>
        <p:spPr>
          <a:xfrm>
            <a:off x="7141464" y="3772407"/>
            <a:ext cx="18105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55C7FF"/>
                </a:solidFill>
              </a:defRPr>
            </a:lvl1pPr>
          </a:lstStyle>
          <a:p>
            <a:pPr/>
            <a:r>
              <a:t>S2 : sans duration</a:t>
            </a:r>
          </a:p>
        </p:txBody>
      </p:sp>
      <p:sp>
        <p:nvSpPr>
          <p:cNvPr id="137" name="Google Shape;133;p4"/>
          <p:cNvSpPr/>
          <p:nvPr/>
        </p:nvSpPr>
        <p:spPr>
          <a:xfrm>
            <a:off x="9144000" y="3703320"/>
            <a:ext cx="1920240" cy="292609"/>
          </a:xfrm>
          <a:prstGeom prst="roundRect">
            <a:avLst>
              <a:gd name="adj" fmla="val 31250"/>
            </a:avLst>
          </a:prstGeom>
          <a:solidFill>
            <a:srgbClr val="162033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38" name="Google Shape;134;p4"/>
          <p:cNvSpPr txBox="1"/>
          <p:nvPr/>
        </p:nvSpPr>
        <p:spPr>
          <a:xfrm>
            <a:off x="9198864" y="3772407"/>
            <a:ext cx="18105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42E8C6"/>
                </a:solidFill>
              </a:defRPr>
            </a:lvl1pPr>
          </a:lstStyle>
          <a:p>
            <a:pPr/>
            <a:r>
              <a:t>S3 : + minimisation</a:t>
            </a:r>
          </a:p>
        </p:txBody>
      </p:sp>
      <p:sp>
        <p:nvSpPr>
          <p:cNvPr id="139" name="Google Shape;135;p4"/>
          <p:cNvSpPr txBox="1"/>
          <p:nvPr/>
        </p:nvSpPr>
        <p:spPr>
          <a:xfrm>
            <a:off x="7059168" y="4617720"/>
            <a:ext cx="3840481" cy="658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i="1" sz="1500">
                <a:solidFill>
                  <a:srgbClr val="8EA0B8"/>
                </a:solidFill>
              </a:defRPr>
            </a:lvl1pPr>
          </a:lstStyle>
          <a:p>
            <a:pPr/>
            <a:r>
              <a:t>La performance “offline” n’est pas la performance opérationnelle</a:t>
            </a:r>
          </a:p>
        </p:txBody>
      </p:sp>
      <p:sp>
        <p:nvSpPr>
          <p:cNvPr id="140" name="Google Shape;136;p4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2;p5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45" name="Google Shape;143;p5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ARBITRAGE</a:t>
            </a:r>
          </a:p>
        </p:txBody>
      </p:sp>
      <p:sp>
        <p:nvSpPr>
          <p:cNvPr id="146" name="Google Shape;144;p5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Quatre scénarios pour mesurer le coût de chaque contrainte</a:t>
            </a:r>
          </a:p>
        </p:txBody>
      </p:sp>
      <p:sp>
        <p:nvSpPr>
          <p:cNvPr id="147" name="Google Shape;145;p5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Du maximum de performance vers un périmètre exploitable et plus sobre</a:t>
            </a:r>
          </a:p>
        </p:txBody>
      </p:sp>
      <p:sp>
        <p:nvSpPr>
          <p:cNvPr id="148" name="Google Shape;146;p5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9" name="Google Shape;147;p5"/>
          <p:cNvSpPr/>
          <p:nvPr/>
        </p:nvSpPr>
        <p:spPr>
          <a:xfrm>
            <a:off x="594359" y="1417319"/>
            <a:ext cx="2468881" cy="4389122"/>
          </a:xfrm>
          <a:prstGeom prst="roundRect">
            <a:avLst>
              <a:gd name="adj" fmla="val 2963"/>
            </a:avLst>
          </a:prstGeom>
          <a:solidFill>
            <a:srgbClr val="101827"/>
          </a:solidFill>
          <a:ln w="12700">
            <a:solidFill>
              <a:srgbClr val="FF7C9D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0" name="Google Shape;148;p5"/>
          <p:cNvSpPr txBox="1"/>
          <p:nvPr/>
        </p:nvSpPr>
        <p:spPr>
          <a:xfrm>
            <a:off x="822960" y="1744424"/>
            <a:ext cx="640081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FF7C9D"/>
                </a:solidFill>
              </a:defRPr>
            </a:lvl1pPr>
          </a:lstStyle>
          <a:p>
            <a:pPr/>
            <a:r>
              <a:t>S1</a:t>
            </a:r>
          </a:p>
        </p:txBody>
      </p:sp>
      <p:sp>
        <p:nvSpPr>
          <p:cNvPr id="151" name="Google Shape;149;p5"/>
          <p:cNvSpPr txBox="1"/>
          <p:nvPr/>
        </p:nvSpPr>
        <p:spPr>
          <a:xfrm>
            <a:off x="1508760" y="1829607"/>
            <a:ext cx="12344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8EA0B8"/>
                </a:solidFill>
              </a:defRPr>
            </a:lvl1pPr>
          </a:lstStyle>
          <a:p>
            <a:pPr/>
            <a:r>
              <a:t>20 variables</a:t>
            </a:r>
          </a:p>
        </p:txBody>
      </p:sp>
      <p:sp>
        <p:nvSpPr>
          <p:cNvPr id="152" name="Google Shape;150;p5"/>
          <p:cNvSpPr txBox="1"/>
          <p:nvPr/>
        </p:nvSpPr>
        <p:spPr>
          <a:xfrm>
            <a:off x="822960" y="2423160"/>
            <a:ext cx="2011680" cy="658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900">
                <a:solidFill>
                  <a:srgbClr val="F8FAFC"/>
                </a:solidFill>
              </a:defRPr>
            </a:lvl1pPr>
          </a:lstStyle>
          <a:p>
            <a:pPr/>
            <a:r>
              <a:t>Complet</a:t>
            </a:r>
          </a:p>
        </p:txBody>
      </p:sp>
      <p:sp>
        <p:nvSpPr>
          <p:cNvPr id="153" name="Google Shape;151;p5"/>
          <p:cNvSpPr txBox="1"/>
          <p:nvPr/>
        </p:nvSpPr>
        <p:spPr>
          <a:xfrm>
            <a:off x="822960" y="3379168"/>
            <a:ext cx="201168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7C9D"/>
                </a:solidFill>
              </a:defRPr>
            </a:lvl1pPr>
          </a:lstStyle>
          <a:p>
            <a:pPr/>
            <a:r>
              <a:t>Référence</a:t>
            </a:r>
          </a:p>
        </p:txBody>
      </p:sp>
      <p:sp>
        <p:nvSpPr>
          <p:cNvPr id="154" name="Google Shape;152;p5"/>
          <p:cNvSpPr txBox="1"/>
          <p:nvPr/>
        </p:nvSpPr>
        <p:spPr>
          <a:xfrm>
            <a:off x="822960" y="3977640"/>
            <a:ext cx="196596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DCE5F2"/>
                </a:solidFill>
              </a:defRPr>
            </a:lvl1pPr>
          </a:lstStyle>
          <a:p>
            <a:pPr/>
            <a:r>
              <a:t>duration + socio-démo</a:t>
            </a:r>
          </a:p>
        </p:txBody>
      </p:sp>
      <p:sp>
        <p:nvSpPr>
          <p:cNvPr id="155" name="Google Shape;153;p5"/>
          <p:cNvSpPr/>
          <p:nvPr/>
        </p:nvSpPr>
        <p:spPr>
          <a:xfrm>
            <a:off x="3456432" y="1417319"/>
            <a:ext cx="2468880" cy="4389122"/>
          </a:xfrm>
          <a:prstGeom prst="roundRect">
            <a:avLst>
              <a:gd name="adj" fmla="val 2963"/>
            </a:avLst>
          </a:prstGeom>
          <a:solidFill>
            <a:srgbClr val="101827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6" name="Google Shape;154;p5"/>
          <p:cNvSpPr txBox="1"/>
          <p:nvPr/>
        </p:nvSpPr>
        <p:spPr>
          <a:xfrm>
            <a:off x="3685032" y="1744424"/>
            <a:ext cx="640081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55C7FF"/>
                </a:solidFill>
              </a:defRPr>
            </a:lvl1pPr>
          </a:lstStyle>
          <a:p>
            <a:pPr/>
            <a:r>
              <a:t>S2</a:t>
            </a:r>
          </a:p>
        </p:txBody>
      </p:sp>
      <p:sp>
        <p:nvSpPr>
          <p:cNvPr id="157" name="Google Shape;155;p5"/>
          <p:cNvSpPr txBox="1"/>
          <p:nvPr/>
        </p:nvSpPr>
        <p:spPr>
          <a:xfrm>
            <a:off x="4370832" y="1829607"/>
            <a:ext cx="12344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8EA0B8"/>
                </a:solidFill>
              </a:defRPr>
            </a:lvl1pPr>
          </a:lstStyle>
          <a:p>
            <a:pPr/>
            <a:r>
              <a:t>19 variables</a:t>
            </a:r>
          </a:p>
        </p:txBody>
      </p:sp>
      <p:sp>
        <p:nvSpPr>
          <p:cNvPr id="158" name="Google Shape;156;p5"/>
          <p:cNvSpPr txBox="1"/>
          <p:nvPr/>
        </p:nvSpPr>
        <p:spPr>
          <a:xfrm>
            <a:off x="3685032" y="2423160"/>
            <a:ext cx="2011680" cy="658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900">
                <a:solidFill>
                  <a:srgbClr val="F8FAFC"/>
                </a:solidFill>
              </a:defRPr>
            </a:lvl1pPr>
          </a:lstStyle>
          <a:p>
            <a:pPr/>
            <a:r>
              <a:t>Sans duration</a:t>
            </a:r>
          </a:p>
        </p:txBody>
      </p:sp>
      <p:sp>
        <p:nvSpPr>
          <p:cNvPr id="159" name="Google Shape;157;p5"/>
          <p:cNvSpPr txBox="1"/>
          <p:nvPr/>
        </p:nvSpPr>
        <p:spPr>
          <a:xfrm>
            <a:off x="3685032" y="3379168"/>
            <a:ext cx="201168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55C7FF"/>
                </a:solidFill>
              </a:defRPr>
            </a:lvl1pPr>
          </a:lstStyle>
          <a:p>
            <a:pPr/>
            <a:r>
              <a:t>Pré-appel</a:t>
            </a:r>
          </a:p>
        </p:txBody>
      </p:sp>
      <p:sp>
        <p:nvSpPr>
          <p:cNvPr id="160" name="Google Shape;158;p5"/>
          <p:cNvSpPr txBox="1"/>
          <p:nvPr/>
        </p:nvSpPr>
        <p:spPr>
          <a:xfrm>
            <a:off x="3685032" y="3977640"/>
            <a:ext cx="196596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DCE5F2"/>
                </a:solidFill>
              </a:defRPr>
            </a:lvl1pPr>
          </a:lstStyle>
          <a:p>
            <a:pPr/>
            <a:r>
              <a:t>socio-démo conservée</a:t>
            </a:r>
          </a:p>
        </p:txBody>
      </p:sp>
      <p:sp>
        <p:nvSpPr>
          <p:cNvPr id="161" name="Google Shape;159;p5"/>
          <p:cNvSpPr/>
          <p:nvPr/>
        </p:nvSpPr>
        <p:spPr>
          <a:xfrm>
            <a:off x="6318503" y="1417319"/>
            <a:ext cx="2468881" cy="4389122"/>
          </a:xfrm>
          <a:prstGeom prst="roundRect">
            <a:avLst>
              <a:gd name="adj" fmla="val 2963"/>
            </a:avLst>
          </a:prstGeom>
          <a:solidFill>
            <a:srgbClr val="101827"/>
          </a:solidFill>
          <a:ln w="27925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2" name="Google Shape;160;p5"/>
          <p:cNvSpPr txBox="1"/>
          <p:nvPr/>
        </p:nvSpPr>
        <p:spPr>
          <a:xfrm>
            <a:off x="6547104" y="1744424"/>
            <a:ext cx="640081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42E8C6"/>
                </a:solidFill>
              </a:defRPr>
            </a:lvl1pPr>
          </a:lstStyle>
          <a:p>
            <a:pPr/>
            <a:r>
              <a:t>S3</a:t>
            </a:r>
          </a:p>
        </p:txBody>
      </p:sp>
      <p:sp>
        <p:nvSpPr>
          <p:cNvPr id="163" name="Google Shape;161;p5"/>
          <p:cNvSpPr txBox="1"/>
          <p:nvPr/>
        </p:nvSpPr>
        <p:spPr>
          <a:xfrm>
            <a:off x="7232904" y="1829607"/>
            <a:ext cx="12344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8EA0B8"/>
                </a:solidFill>
              </a:defRPr>
            </a:lvl1pPr>
          </a:lstStyle>
          <a:p>
            <a:pPr/>
            <a:r>
              <a:t>15 variables</a:t>
            </a:r>
          </a:p>
        </p:txBody>
      </p:sp>
      <p:sp>
        <p:nvSpPr>
          <p:cNvPr id="164" name="Google Shape;162;p5"/>
          <p:cNvSpPr txBox="1"/>
          <p:nvPr/>
        </p:nvSpPr>
        <p:spPr>
          <a:xfrm>
            <a:off x="6547104" y="2423160"/>
            <a:ext cx="2011680" cy="658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1900">
                <a:solidFill>
                  <a:srgbClr val="F8FAFC"/>
                </a:solidFill>
              </a:defRPr>
            </a:pPr>
            <a:r>
              <a:t>Sans duration</a:t>
            </a:r>
          </a:p>
          <a:p>
            <a:pPr>
              <a:defRPr b="1" sz="1900">
                <a:solidFill>
                  <a:srgbClr val="F8FAFC"/>
                </a:solidFill>
              </a:defRPr>
            </a:pPr>
            <a:r>
              <a:t>ni socio-démo</a:t>
            </a:r>
          </a:p>
        </p:txBody>
      </p:sp>
      <p:sp>
        <p:nvSpPr>
          <p:cNvPr id="165" name="Google Shape;163;p5"/>
          <p:cNvSpPr txBox="1"/>
          <p:nvPr/>
        </p:nvSpPr>
        <p:spPr>
          <a:xfrm>
            <a:off x="6547104" y="3379168"/>
            <a:ext cx="201168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42E8C6"/>
                </a:solidFill>
              </a:defRPr>
            </a:lvl1pPr>
          </a:lstStyle>
          <a:p>
            <a:pPr/>
            <a:r>
              <a:t>Compromis retenu</a:t>
            </a:r>
          </a:p>
        </p:txBody>
      </p:sp>
      <p:sp>
        <p:nvSpPr>
          <p:cNvPr id="166" name="Google Shape;164;p5"/>
          <p:cNvSpPr txBox="1"/>
          <p:nvPr/>
        </p:nvSpPr>
        <p:spPr>
          <a:xfrm>
            <a:off x="6547104" y="3977640"/>
            <a:ext cx="196596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DCE5F2"/>
                </a:solidFill>
              </a:defRPr>
            </a:lvl1pPr>
          </a:lstStyle>
          <a:p>
            <a:pPr/>
            <a:r>
              <a:t>biais indirects possibles</a:t>
            </a:r>
          </a:p>
        </p:txBody>
      </p:sp>
      <p:sp>
        <p:nvSpPr>
          <p:cNvPr id="167" name="Google Shape;165;p5"/>
          <p:cNvSpPr/>
          <p:nvPr/>
        </p:nvSpPr>
        <p:spPr>
          <a:xfrm>
            <a:off x="6821423" y="5102352"/>
            <a:ext cx="1463041" cy="365761"/>
          </a:xfrm>
          <a:prstGeom prst="roundRect">
            <a:avLst>
              <a:gd name="adj" fmla="val 20000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8" name="Google Shape;166;p5"/>
          <p:cNvSpPr txBox="1"/>
          <p:nvPr/>
        </p:nvSpPr>
        <p:spPr>
          <a:xfrm>
            <a:off x="6894576" y="521258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080C18"/>
                </a:solidFill>
              </a:defRPr>
            </a:lvl1pPr>
          </a:lstStyle>
          <a:p>
            <a:pPr/>
            <a:r>
              <a:t>RETENU</a:t>
            </a:r>
          </a:p>
        </p:txBody>
      </p:sp>
      <p:sp>
        <p:nvSpPr>
          <p:cNvPr id="169" name="Google Shape;167;p5"/>
          <p:cNvSpPr/>
          <p:nvPr/>
        </p:nvSpPr>
        <p:spPr>
          <a:xfrm>
            <a:off x="9180576" y="1417319"/>
            <a:ext cx="2468880" cy="4389122"/>
          </a:xfrm>
          <a:prstGeom prst="roundRect">
            <a:avLst>
              <a:gd name="adj" fmla="val 2963"/>
            </a:avLst>
          </a:prstGeom>
          <a:solidFill>
            <a:srgbClr val="101827"/>
          </a:solidFill>
          <a:ln w="127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0" name="Google Shape;168;p5"/>
          <p:cNvSpPr txBox="1"/>
          <p:nvPr/>
        </p:nvSpPr>
        <p:spPr>
          <a:xfrm>
            <a:off x="9409176" y="1744424"/>
            <a:ext cx="640081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FFB547"/>
                </a:solidFill>
              </a:defRPr>
            </a:lvl1pPr>
          </a:lstStyle>
          <a:p>
            <a:pPr/>
            <a:r>
              <a:t>S4</a:t>
            </a:r>
          </a:p>
        </p:txBody>
      </p:sp>
      <p:sp>
        <p:nvSpPr>
          <p:cNvPr id="171" name="Google Shape;169;p5"/>
          <p:cNvSpPr txBox="1"/>
          <p:nvPr/>
        </p:nvSpPr>
        <p:spPr>
          <a:xfrm>
            <a:off x="10094976" y="1829607"/>
            <a:ext cx="12344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8EA0B8"/>
                </a:solidFill>
              </a:defRPr>
            </a:lvl1pPr>
          </a:lstStyle>
          <a:p>
            <a:pPr/>
            <a:r>
              <a:t>11 variables</a:t>
            </a:r>
          </a:p>
        </p:txBody>
      </p:sp>
      <p:sp>
        <p:nvSpPr>
          <p:cNvPr id="172" name="Google Shape;170;p5"/>
          <p:cNvSpPr txBox="1"/>
          <p:nvPr/>
        </p:nvSpPr>
        <p:spPr>
          <a:xfrm>
            <a:off x="9409176" y="2423160"/>
            <a:ext cx="2011680" cy="658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900">
                <a:solidFill>
                  <a:srgbClr val="F8FAFC"/>
                </a:solidFill>
              </a:defRPr>
            </a:lvl1pPr>
          </a:lstStyle>
          <a:p>
            <a:pPr/>
            <a:r>
              <a:t>Minimal</a:t>
            </a:r>
          </a:p>
        </p:txBody>
      </p:sp>
      <p:sp>
        <p:nvSpPr>
          <p:cNvPr id="173" name="Google Shape;171;p5"/>
          <p:cNvSpPr txBox="1"/>
          <p:nvPr/>
        </p:nvSpPr>
        <p:spPr>
          <a:xfrm>
            <a:off x="9409176" y="3379168"/>
            <a:ext cx="201168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B547"/>
                </a:solidFill>
              </a:defRPr>
            </a:lvl1pPr>
          </a:lstStyle>
          <a:p>
            <a:pPr/>
            <a:r>
              <a:t>Sobriété max</a:t>
            </a:r>
          </a:p>
        </p:txBody>
      </p:sp>
      <p:sp>
        <p:nvSpPr>
          <p:cNvPr id="174" name="Google Shape;172;p5"/>
          <p:cNvSpPr txBox="1"/>
          <p:nvPr/>
        </p:nvSpPr>
        <p:spPr>
          <a:xfrm>
            <a:off x="9409176" y="3977640"/>
            <a:ext cx="1965961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DCE5F2"/>
                </a:solidFill>
              </a:defRPr>
            </a:lvl1pPr>
          </a:lstStyle>
          <a:p>
            <a:pPr/>
            <a:r>
              <a:t>perte de performance</a:t>
            </a:r>
          </a:p>
        </p:txBody>
      </p:sp>
      <p:sp>
        <p:nvSpPr>
          <p:cNvPr id="175" name="Google Shape;173;p5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80" name="Google Shape;180;p6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MODÈLES</a:t>
            </a:r>
          </a:p>
        </p:txBody>
      </p:sp>
      <p:sp>
        <p:nvSpPr>
          <p:cNvPr id="181" name="Google Shape;181;p6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S3 : les modèles racontent des histoires différentes</a:t>
            </a:r>
          </a:p>
        </p:txBody>
      </p:sp>
      <p:sp>
        <p:nvSpPr>
          <p:cNvPr id="182" name="Google Shape;182;p6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Random Forest maximise le F1, Gradient Boosting la précision et la ROC-AUC</a:t>
            </a:r>
          </a:p>
        </p:txBody>
      </p:sp>
      <p:sp>
        <p:nvSpPr>
          <p:cNvPr id="183" name="Google Shape;183;p6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4" name="Google Shape;184;p6"/>
          <p:cNvSpPr txBox="1"/>
          <p:nvPr/>
        </p:nvSpPr>
        <p:spPr>
          <a:xfrm>
            <a:off x="777240" y="1411638"/>
            <a:ext cx="13716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8FAFC"/>
                </a:solidFill>
              </a:defRPr>
            </a:lvl1pPr>
          </a:lstStyle>
          <a:p>
            <a:pPr/>
            <a:r>
              <a:t>F1 CV</a:t>
            </a:r>
          </a:p>
        </p:txBody>
      </p:sp>
      <p:sp>
        <p:nvSpPr>
          <p:cNvPr id="185" name="Google Shape;185;p6"/>
          <p:cNvSpPr txBox="1"/>
          <p:nvPr/>
        </p:nvSpPr>
        <p:spPr>
          <a:xfrm>
            <a:off x="777239" y="1788459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186" name="Google Shape;186;p6"/>
          <p:cNvSpPr/>
          <p:nvPr/>
        </p:nvSpPr>
        <p:spPr>
          <a:xfrm>
            <a:off x="2514600" y="1783079"/>
            <a:ext cx="2423161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87" name="Google Shape;187;p6"/>
          <p:cNvSpPr/>
          <p:nvPr/>
        </p:nvSpPr>
        <p:spPr>
          <a:xfrm>
            <a:off x="2514600" y="1783079"/>
            <a:ext cx="2089302" cy="201169"/>
          </a:xfrm>
          <a:prstGeom prst="roundRect">
            <a:avLst>
              <a:gd name="adj" fmla="val 18182"/>
            </a:avLst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88" name="Google Shape;188;p6"/>
          <p:cNvSpPr txBox="1"/>
          <p:nvPr/>
        </p:nvSpPr>
        <p:spPr>
          <a:xfrm>
            <a:off x="5001767" y="1797603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0,388</a:t>
            </a:r>
          </a:p>
        </p:txBody>
      </p:sp>
      <p:sp>
        <p:nvSpPr>
          <p:cNvPr id="189" name="Google Shape;189;p6"/>
          <p:cNvSpPr txBox="1"/>
          <p:nvPr/>
        </p:nvSpPr>
        <p:spPr>
          <a:xfrm>
            <a:off x="777239" y="2318811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Gradient Boosting</a:t>
            </a:r>
          </a:p>
        </p:txBody>
      </p:sp>
      <p:sp>
        <p:nvSpPr>
          <p:cNvPr id="190" name="Google Shape;190;p6"/>
          <p:cNvSpPr/>
          <p:nvPr/>
        </p:nvSpPr>
        <p:spPr>
          <a:xfrm>
            <a:off x="2514600" y="2313432"/>
            <a:ext cx="2423161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91" name="Google Shape;191;p6"/>
          <p:cNvSpPr/>
          <p:nvPr/>
        </p:nvSpPr>
        <p:spPr>
          <a:xfrm>
            <a:off x="2514600" y="2313432"/>
            <a:ext cx="1922374" cy="201169"/>
          </a:xfrm>
          <a:prstGeom prst="roundRect">
            <a:avLst>
              <a:gd name="adj" fmla="val 18182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92" name="Google Shape;192;p6"/>
          <p:cNvSpPr txBox="1"/>
          <p:nvPr/>
        </p:nvSpPr>
        <p:spPr>
          <a:xfrm>
            <a:off x="5001767" y="2327955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0,357</a:t>
            </a:r>
          </a:p>
        </p:txBody>
      </p:sp>
      <p:sp>
        <p:nvSpPr>
          <p:cNvPr id="193" name="Google Shape;193;p6"/>
          <p:cNvSpPr txBox="1"/>
          <p:nvPr/>
        </p:nvSpPr>
        <p:spPr>
          <a:xfrm>
            <a:off x="777239" y="2849163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Logistic Regression</a:t>
            </a:r>
          </a:p>
        </p:txBody>
      </p:sp>
      <p:sp>
        <p:nvSpPr>
          <p:cNvPr id="194" name="Google Shape;194;p6"/>
          <p:cNvSpPr/>
          <p:nvPr/>
        </p:nvSpPr>
        <p:spPr>
          <a:xfrm>
            <a:off x="2514600" y="2843783"/>
            <a:ext cx="2423161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95" name="Google Shape;195;p6"/>
          <p:cNvSpPr/>
          <p:nvPr/>
        </p:nvSpPr>
        <p:spPr>
          <a:xfrm>
            <a:off x="2514600" y="2843783"/>
            <a:ext cx="1814678" cy="201169"/>
          </a:xfrm>
          <a:prstGeom prst="roundRect">
            <a:avLst>
              <a:gd name="adj" fmla="val 18182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96" name="Google Shape;196;p6"/>
          <p:cNvSpPr txBox="1"/>
          <p:nvPr/>
        </p:nvSpPr>
        <p:spPr>
          <a:xfrm>
            <a:off x="5001767" y="2858307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0,337</a:t>
            </a:r>
          </a:p>
        </p:txBody>
      </p:sp>
      <p:sp>
        <p:nvSpPr>
          <p:cNvPr id="197" name="Google Shape;197;p6"/>
          <p:cNvSpPr txBox="1"/>
          <p:nvPr/>
        </p:nvSpPr>
        <p:spPr>
          <a:xfrm>
            <a:off x="777239" y="3770790"/>
            <a:ext cx="164592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8FAFC"/>
                </a:solidFill>
              </a:defRPr>
            </a:lvl1pPr>
          </a:lstStyle>
          <a:p>
            <a:pPr/>
            <a:r>
              <a:t>Précision CV</a:t>
            </a:r>
          </a:p>
        </p:txBody>
      </p:sp>
      <p:sp>
        <p:nvSpPr>
          <p:cNvPr id="198" name="Google Shape;198;p6"/>
          <p:cNvSpPr txBox="1"/>
          <p:nvPr/>
        </p:nvSpPr>
        <p:spPr>
          <a:xfrm>
            <a:off x="777239" y="4138467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199" name="Google Shape;199;p6"/>
          <p:cNvSpPr/>
          <p:nvPr/>
        </p:nvSpPr>
        <p:spPr>
          <a:xfrm>
            <a:off x="2514600" y="4133088"/>
            <a:ext cx="2423161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0" name="Google Shape;200;p6"/>
          <p:cNvSpPr/>
          <p:nvPr/>
        </p:nvSpPr>
        <p:spPr>
          <a:xfrm>
            <a:off x="2514600" y="4133088"/>
            <a:ext cx="1709136" cy="201169"/>
          </a:xfrm>
          <a:prstGeom prst="roundRect">
            <a:avLst>
              <a:gd name="adj" fmla="val 18182"/>
            </a:avLst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1" name="Google Shape;201;p6"/>
          <p:cNvSpPr txBox="1"/>
          <p:nvPr/>
        </p:nvSpPr>
        <p:spPr>
          <a:xfrm>
            <a:off x="5001767" y="4147611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0,529</a:t>
            </a:r>
          </a:p>
        </p:txBody>
      </p:sp>
      <p:sp>
        <p:nvSpPr>
          <p:cNvPr id="202" name="Google Shape;202;p6"/>
          <p:cNvSpPr txBox="1"/>
          <p:nvPr/>
        </p:nvSpPr>
        <p:spPr>
          <a:xfrm>
            <a:off x="777239" y="4668819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Gradient Boosting</a:t>
            </a:r>
          </a:p>
        </p:txBody>
      </p:sp>
      <p:sp>
        <p:nvSpPr>
          <p:cNvPr id="203" name="Google Shape;203;p6"/>
          <p:cNvSpPr/>
          <p:nvPr/>
        </p:nvSpPr>
        <p:spPr>
          <a:xfrm>
            <a:off x="2514600" y="4663440"/>
            <a:ext cx="2423161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4" name="Google Shape;204;p6"/>
          <p:cNvSpPr/>
          <p:nvPr/>
        </p:nvSpPr>
        <p:spPr>
          <a:xfrm>
            <a:off x="2514600" y="4663440"/>
            <a:ext cx="2174383" cy="201169"/>
          </a:xfrm>
          <a:prstGeom prst="roundRect">
            <a:avLst>
              <a:gd name="adj" fmla="val 18182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5" name="Google Shape;205;p6"/>
          <p:cNvSpPr txBox="1"/>
          <p:nvPr/>
        </p:nvSpPr>
        <p:spPr>
          <a:xfrm>
            <a:off x="5001767" y="4677963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0,673</a:t>
            </a:r>
          </a:p>
        </p:txBody>
      </p:sp>
      <p:sp>
        <p:nvSpPr>
          <p:cNvPr id="206" name="Google Shape;206;p6"/>
          <p:cNvSpPr txBox="1"/>
          <p:nvPr/>
        </p:nvSpPr>
        <p:spPr>
          <a:xfrm>
            <a:off x="777239" y="5199171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Logistic Regression</a:t>
            </a:r>
          </a:p>
        </p:txBody>
      </p:sp>
      <p:sp>
        <p:nvSpPr>
          <p:cNvPr id="207" name="Google Shape;207;p6"/>
          <p:cNvSpPr/>
          <p:nvPr/>
        </p:nvSpPr>
        <p:spPr>
          <a:xfrm>
            <a:off x="2514600" y="5193791"/>
            <a:ext cx="2423161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8" name="Google Shape;208;p6"/>
          <p:cNvSpPr/>
          <p:nvPr/>
        </p:nvSpPr>
        <p:spPr>
          <a:xfrm>
            <a:off x="2514600" y="5193791"/>
            <a:ext cx="2154997" cy="201169"/>
          </a:xfrm>
          <a:prstGeom prst="roundRect">
            <a:avLst>
              <a:gd name="adj" fmla="val 18182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9" name="Google Shape;209;p6"/>
          <p:cNvSpPr txBox="1"/>
          <p:nvPr/>
        </p:nvSpPr>
        <p:spPr>
          <a:xfrm>
            <a:off x="5001767" y="5208315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0,667</a:t>
            </a:r>
          </a:p>
        </p:txBody>
      </p:sp>
      <p:sp>
        <p:nvSpPr>
          <p:cNvPr id="210" name="Google Shape;210;p6"/>
          <p:cNvSpPr/>
          <p:nvPr/>
        </p:nvSpPr>
        <p:spPr>
          <a:xfrm>
            <a:off x="5989320" y="1371600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11" name="Google Shape;211;p6"/>
          <p:cNvSpPr txBox="1"/>
          <p:nvPr/>
        </p:nvSpPr>
        <p:spPr>
          <a:xfrm>
            <a:off x="6355079" y="1743339"/>
            <a:ext cx="2926081" cy="271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8FAFC"/>
                </a:solidFill>
              </a:defRPr>
            </a:lvl1pPr>
          </a:lstStyle>
          <a:p>
            <a:pPr/>
            <a:r>
              <a:t>Ce que j’en retiens</a:t>
            </a:r>
          </a:p>
        </p:txBody>
      </p:sp>
      <p:sp>
        <p:nvSpPr>
          <p:cNvPr id="212" name="Google Shape;212;p6"/>
          <p:cNvSpPr txBox="1"/>
          <p:nvPr/>
        </p:nvSpPr>
        <p:spPr>
          <a:xfrm>
            <a:off x="6400799" y="2331720"/>
            <a:ext cx="4160522" cy="21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Le F1 au seuil 0,5 favorise la Random Forest</a:t>
            </a:r>
          </a:p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Gradient Boosting a la meilleure précision et la meilleure ROC-AUC sur S3</a:t>
            </a:r>
          </a:p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Ces métriques restent dépendantes d’un seuil arbitraire</a:t>
            </a:r>
          </a:p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Le choix final doit être refait à capacité d’appels constante</a:t>
            </a:r>
          </a:p>
        </p:txBody>
      </p:sp>
      <p:sp>
        <p:nvSpPr>
          <p:cNvPr id="213" name="Google Shape;213;p6"/>
          <p:cNvSpPr txBox="1"/>
          <p:nvPr/>
        </p:nvSpPr>
        <p:spPr>
          <a:xfrm>
            <a:off x="6355079" y="4892040"/>
            <a:ext cx="4297681" cy="594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600">
                <a:solidFill>
                  <a:srgbClr val="42E8C6"/>
                </a:solidFill>
              </a:defRPr>
            </a:lvl1pPr>
          </a:lstStyle>
          <a:p>
            <a:pPr/>
            <a:r>
              <a:t>→ Le critère de décision devient métier, pas uniquement statistique</a:t>
            </a:r>
          </a:p>
        </p:txBody>
      </p:sp>
      <p:sp>
        <p:nvSpPr>
          <p:cNvPr id="214" name="Google Shape;214;p6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20;p7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19" name="Google Shape;221;p7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POLITIQUE</a:t>
            </a:r>
          </a:p>
        </p:txBody>
      </p:sp>
      <p:sp>
        <p:nvSpPr>
          <p:cNvPr id="220" name="Google Shape;222;p7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Le seuil 0,5 n’est pas une contrainte métier</a:t>
            </a:r>
          </a:p>
        </p:txBody>
      </p:sp>
      <p:sp>
        <p:nvSpPr>
          <p:cNvPr id="221" name="Google Shape;223;p7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Il appelle très peu de clients et rate la majorité des souscripteurs</a:t>
            </a:r>
          </a:p>
        </p:txBody>
      </p:sp>
      <p:sp>
        <p:nvSpPr>
          <p:cNvPr id="222" name="Google Shape;224;p7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3" name="Google Shape;225;p7"/>
          <p:cNvSpPr/>
          <p:nvPr/>
        </p:nvSpPr>
        <p:spPr>
          <a:xfrm>
            <a:off x="731519" y="1417319"/>
            <a:ext cx="2331722" cy="1417321"/>
          </a:xfrm>
          <a:prstGeom prst="roundRect">
            <a:avLst>
              <a:gd name="adj" fmla="val 5161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24" name="Google Shape;226;p7"/>
          <p:cNvSpPr/>
          <p:nvPr/>
        </p:nvSpPr>
        <p:spPr>
          <a:xfrm>
            <a:off x="731519" y="1417319"/>
            <a:ext cx="54865" cy="1417321"/>
          </a:xfrm>
          <a:prstGeom prst="rect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25" name="Google Shape;227;p7"/>
          <p:cNvSpPr txBox="1"/>
          <p:nvPr/>
        </p:nvSpPr>
        <p:spPr>
          <a:xfrm>
            <a:off x="932688" y="1601007"/>
            <a:ext cx="201168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Précision @ 0,5</a:t>
            </a:r>
          </a:p>
        </p:txBody>
      </p:sp>
      <p:sp>
        <p:nvSpPr>
          <p:cNvPr id="226" name="Google Shape;228;p7"/>
          <p:cNvSpPr txBox="1"/>
          <p:nvPr/>
        </p:nvSpPr>
        <p:spPr>
          <a:xfrm>
            <a:off x="932688" y="1896731"/>
            <a:ext cx="2011680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68,6 %</a:t>
            </a:r>
          </a:p>
        </p:txBody>
      </p:sp>
      <p:sp>
        <p:nvSpPr>
          <p:cNvPr id="227" name="Google Shape;229;p7"/>
          <p:cNvSpPr txBox="1"/>
          <p:nvPr/>
        </p:nvSpPr>
        <p:spPr>
          <a:xfrm>
            <a:off x="932688" y="2551684"/>
            <a:ext cx="2011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Parmi les positifs prédits</a:t>
            </a:r>
          </a:p>
        </p:txBody>
      </p:sp>
      <p:sp>
        <p:nvSpPr>
          <p:cNvPr id="228" name="Google Shape;230;p7"/>
          <p:cNvSpPr/>
          <p:nvPr/>
        </p:nvSpPr>
        <p:spPr>
          <a:xfrm>
            <a:off x="3246120" y="1417319"/>
            <a:ext cx="2331721" cy="1417321"/>
          </a:xfrm>
          <a:prstGeom prst="roundRect">
            <a:avLst>
              <a:gd name="adj" fmla="val 5161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29" name="Google Shape;231;p7"/>
          <p:cNvSpPr/>
          <p:nvPr/>
        </p:nvSpPr>
        <p:spPr>
          <a:xfrm>
            <a:off x="3246120" y="1417319"/>
            <a:ext cx="54865" cy="1417321"/>
          </a:xfrm>
          <a:prstGeom prst="rect">
            <a:avLst/>
          </a:prstGeom>
          <a:solidFill>
            <a:srgbClr val="FF7C9D"/>
          </a:solidFill>
          <a:ln w="12700">
            <a:solidFill>
              <a:srgbClr val="FF7C9D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30" name="Google Shape;232;p7"/>
          <p:cNvSpPr txBox="1"/>
          <p:nvPr/>
        </p:nvSpPr>
        <p:spPr>
          <a:xfrm>
            <a:off x="3447288" y="1601007"/>
            <a:ext cx="201168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Rappel @ 0,5</a:t>
            </a:r>
          </a:p>
        </p:txBody>
      </p:sp>
      <p:sp>
        <p:nvSpPr>
          <p:cNvPr id="231" name="Google Shape;233;p7"/>
          <p:cNvSpPr txBox="1"/>
          <p:nvPr/>
        </p:nvSpPr>
        <p:spPr>
          <a:xfrm>
            <a:off x="3447288" y="1896731"/>
            <a:ext cx="2011680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24,7 %</a:t>
            </a:r>
          </a:p>
        </p:txBody>
      </p:sp>
      <p:sp>
        <p:nvSpPr>
          <p:cNvPr id="232" name="Google Shape;234;p7"/>
          <p:cNvSpPr txBox="1"/>
          <p:nvPr/>
        </p:nvSpPr>
        <p:spPr>
          <a:xfrm>
            <a:off x="3447288" y="2551684"/>
            <a:ext cx="2011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≈ 3 souscripteurs sur 4 ratés</a:t>
            </a:r>
          </a:p>
        </p:txBody>
      </p:sp>
      <p:sp>
        <p:nvSpPr>
          <p:cNvPr id="233" name="Google Shape;235;p7"/>
          <p:cNvSpPr/>
          <p:nvPr/>
        </p:nvSpPr>
        <p:spPr>
          <a:xfrm>
            <a:off x="5760720" y="1417319"/>
            <a:ext cx="2331721" cy="1417321"/>
          </a:xfrm>
          <a:prstGeom prst="roundRect">
            <a:avLst>
              <a:gd name="adj" fmla="val 5161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34" name="Google Shape;236;p7"/>
          <p:cNvSpPr/>
          <p:nvPr/>
        </p:nvSpPr>
        <p:spPr>
          <a:xfrm>
            <a:off x="5760720" y="1417319"/>
            <a:ext cx="54865" cy="1417321"/>
          </a:xfrm>
          <a:prstGeom prst="rect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35" name="Google Shape;237;p7"/>
          <p:cNvSpPr txBox="1"/>
          <p:nvPr/>
        </p:nvSpPr>
        <p:spPr>
          <a:xfrm>
            <a:off x="5961888" y="1601007"/>
            <a:ext cx="201168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F1 @ 0,5</a:t>
            </a:r>
          </a:p>
        </p:txBody>
      </p:sp>
      <p:sp>
        <p:nvSpPr>
          <p:cNvPr id="236" name="Google Shape;238;p7"/>
          <p:cNvSpPr txBox="1"/>
          <p:nvPr/>
        </p:nvSpPr>
        <p:spPr>
          <a:xfrm>
            <a:off x="5961888" y="1896731"/>
            <a:ext cx="2011680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0,363</a:t>
            </a:r>
          </a:p>
        </p:txBody>
      </p:sp>
      <p:sp>
        <p:nvSpPr>
          <p:cNvPr id="237" name="Google Shape;239;p7"/>
          <p:cNvSpPr txBox="1"/>
          <p:nvPr/>
        </p:nvSpPr>
        <p:spPr>
          <a:xfrm>
            <a:off x="5961888" y="2551684"/>
            <a:ext cx="2011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Lecture classification</a:t>
            </a:r>
          </a:p>
        </p:txBody>
      </p:sp>
      <p:sp>
        <p:nvSpPr>
          <p:cNvPr id="238" name="Google Shape;240;p7"/>
          <p:cNvSpPr/>
          <p:nvPr/>
        </p:nvSpPr>
        <p:spPr>
          <a:xfrm>
            <a:off x="8275319" y="1417319"/>
            <a:ext cx="2331721" cy="1417321"/>
          </a:xfrm>
          <a:prstGeom prst="roundRect">
            <a:avLst>
              <a:gd name="adj" fmla="val 5161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39" name="Google Shape;241;p7"/>
          <p:cNvSpPr/>
          <p:nvPr/>
        </p:nvSpPr>
        <p:spPr>
          <a:xfrm>
            <a:off x="8275319" y="1417319"/>
            <a:ext cx="54865" cy="1417321"/>
          </a:xfrm>
          <a:prstGeom prst="rect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40" name="Google Shape;242;p7"/>
          <p:cNvSpPr txBox="1"/>
          <p:nvPr/>
        </p:nvSpPr>
        <p:spPr>
          <a:xfrm>
            <a:off x="8476488" y="1601007"/>
            <a:ext cx="201168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ROC-AUC</a:t>
            </a:r>
          </a:p>
        </p:txBody>
      </p:sp>
      <p:sp>
        <p:nvSpPr>
          <p:cNvPr id="241" name="Google Shape;243;p7"/>
          <p:cNvSpPr txBox="1"/>
          <p:nvPr/>
        </p:nvSpPr>
        <p:spPr>
          <a:xfrm>
            <a:off x="8476488" y="1896731"/>
            <a:ext cx="2011680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0,810</a:t>
            </a:r>
          </a:p>
        </p:txBody>
      </p:sp>
      <p:sp>
        <p:nvSpPr>
          <p:cNvPr id="242" name="Google Shape;244;p7"/>
          <p:cNvSpPr txBox="1"/>
          <p:nvPr/>
        </p:nvSpPr>
        <p:spPr>
          <a:xfrm>
            <a:off x="8476488" y="2551684"/>
            <a:ext cx="20116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Capacité de classement</a:t>
            </a:r>
          </a:p>
        </p:txBody>
      </p:sp>
      <p:sp>
        <p:nvSpPr>
          <p:cNvPr id="243" name="Google Shape;245;p7"/>
          <p:cNvSpPr txBox="1"/>
          <p:nvPr/>
        </p:nvSpPr>
        <p:spPr>
          <a:xfrm>
            <a:off x="822960" y="3473610"/>
            <a:ext cx="23774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8EA0B8"/>
                </a:solidFill>
              </a:defRPr>
            </a:lvl1pPr>
          </a:lstStyle>
          <a:p>
            <a:pPr/>
            <a:r>
              <a:t>Question reformulée</a:t>
            </a:r>
          </a:p>
        </p:txBody>
      </p:sp>
      <p:sp>
        <p:nvSpPr>
          <p:cNvPr id="244" name="Google Shape;246;p7"/>
          <p:cNvSpPr txBox="1"/>
          <p:nvPr/>
        </p:nvSpPr>
        <p:spPr>
          <a:xfrm>
            <a:off x="822959" y="3840479"/>
            <a:ext cx="10332722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768095">
              <a:defRPr b="1" sz="2267">
                <a:solidFill>
                  <a:srgbClr val="F8FAFC"/>
                </a:solidFill>
              </a:defRPr>
            </a:lvl1pPr>
          </a:lstStyle>
          <a:p>
            <a:pPr/>
            <a:r>
              <a:t>“Si je peux appeler X % de ma population, quels clients dois-je prioriser ?”</a:t>
            </a:r>
          </a:p>
        </p:txBody>
      </p:sp>
      <p:sp>
        <p:nvSpPr>
          <p:cNvPr id="245" name="Google Shape;247;p7"/>
          <p:cNvSpPr/>
          <p:nvPr/>
        </p:nvSpPr>
        <p:spPr>
          <a:xfrm>
            <a:off x="6080759" y="4754879"/>
            <a:ext cx="1" cy="594361"/>
          </a:xfrm>
          <a:prstGeom prst="line">
            <a:avLst/>
          </a:prstGeom>
          <a:ln w="38100">
            <a:solidFill>
              <a:srgbClr val="FFB547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6" name="Google Shape;248;p7"/>
          <p:cNvSpPr/>
          <p:nvPr/>
        </p:nvSpPr>
        <p:spPr>
          <a:xfrm>
            <a:off x="4023359" y="5349240"/>
            <a:ext cx="4114801" cy="594361"/>
          </a:xfrm>
          <a:prstGeom prst="roundRect">
            <a:avLst>
              <a:gd name="adj" fmla="val 12308"/>
            </a:avLst>
          </a:prstGeom>
          <a:solidFill>
            <a:srgbClr val="2A2413"/>
          </a:solidFill>
          <a:ln w="1905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47" name="Google Shape;249;p7"/>
          <p:cNvSpPr txBox="1"/>
          <p:nvPr/>
        </p:nvSpPr>
        <p:spPr>
          <a:xfrm>
            <a:off x="4224528" y="5543156"/>
            <a:ext cx="370332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B547"/>
                </a:solidFill>
              </a:defRPr>
            </a:lvl1pPr>
          </a:lstStyle>
          <a:p>
            <a:pPr/>
            <a:r>
              <a:t>Classement des scores → sélection top-k</a:t>
            </a:r>
          </a:p>
        </p:txBody>
      </p:sp>
      <p:sp>
        <p:nvSpPr>
          <p:cNvPr id="248" name="Google Shape;250;p7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6;p8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53" name="Google Shape;257;p8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TOP-K</a:t>
            </a:r>
          </a:p>
        </p:txBody>
      </p:sp>
      <p:sp>
        <p:nvSpPr>
          <p:cNvPr id="254" name="Google Shape;258;p8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À capacité constante, RF et GB sont presque équivalents</a:t>
            </a:r>
          </a:p>
        </p:txBody>
      </p:sp>
      <p:sp>
        <p:nvSpPr>
          <p:cNvPr id="255" name="Google Shape;259;p8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Analyse out-of-fold sur le train — le test reste intact pour l’évaluation finale</a:t>
            </a:r>
          </a:p>
        </p:txBody>
      </p:sp>
      <p:sp>
        <p:nvSpPr>
          <p:cNvPr id="256" name="Google Shape;260;p8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7" name="Google Shape;261;p8"/>
          <p:cNvSpPr/>
          <p:nvPr/>
        </p:nvSpPr>
        <p:spPr>
          <a:xfrm>
            <a:off x="868679" y="5212079"/>
            <a:ext cx="6583681" cy="1"/>
          </a:xfrm>
          <a:prstGeom prst="line">
            <a:avLst/>
          </a:prstGeom>
          <a:ln w="12700">
            <a:solidFill>
              <a:srgbClr val="47556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8" name="Google Shape;262;p8"/>
          <p:cNvSpPr/>
          <p:nvPr/>
        </p:nvSpPr>
        <p:spPr>
          <a:xfrm flipH="1">
            <a:off x="868680" y="1600200"/>
            <a:ext cx="1" cy="3611881"/>
          </a:xfrm>
          <a:prstGeom prst="line">
            <a:avLst/>
          </a:prstGeom>
          <a:ln w="12700">
            <a:solidFill>
              <a:srgbClr val="47556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9" name="Google Shape;263;p8"/>
          <p:cNvSpPr/>
          <p:nvPr/>
        </p:nvSpPr>
        <p:spPr>
          <a:xfrm>
            <a:off x="868679" y="5212079"/>
            <a:ext cx="6583681" cy="1"/>
          </a:xfrm>
          <a:prstGeom prst="line">
            <a:avLst/>
          </a:prstGeom>
          <a:ln>
            <a:solidFill>
              <a:srgbClr val="1E293B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0" name="Google Shape;264;p8"/>
          <p:cNvSpPr txBox="1"/>
          <p:nvPr/>
        </p:nvSpPr>
        <p:spPr>
          <a:xfrm>
            <a:off x="393191" y="513943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0 %</a:t>
            </a:r>
          </a:p>
        </p:txBody>
      </p:sp>
      <p:sp>
        <p:nvSpPr>
          <p:cNvPr id="261" name="Google Shape;265;p8"/>
          <p:cNvSpPr/>
          <p:nvPr/>
        </p:nvSpPr>
        <p:spPr>
          <a:xfrm>
            <a:off x="868679" y="4309109"/>
            <a:ext cx="6583681" cy="1"/>
          </a:xfrm>
          <a:prstGeom prst="line">
            <a:avLst/>
          </a:prstGeom>
          <a:ln>
            <a:solidFill>
              <a:srgbClr val="1E293B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2" name="Google Shape;266;p8"/>
          <p:cNvSpPr txBox="1"/>
          <p:nvPr/>
        </p:nvSpPr>
        <p:spPr>
          <a:xfrm>
            <a:off x="393191" y="423646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20 %</a:t>
            </a:r>
          </a:p>
        </p:txBody>
      </p:sp>
      <p:sp>
        <p:nvSpPr>
          <p:cNvPr id="263" name="Google Shape;267;p8"/>
          <p:cNvSpPr/>
          <p:nvPr/>
        </p:nvSpPr>
        <p:spPr>
          <a:xfrm>
            <a:off x="868679" y="3406140"/>
            <a:ext cx="6583681" cy="1"/>
          </a:xfrm>
          <a:prstGeom prst="line">
            <a:avLst/>
          </a:prstGeom>
          <a:ln>
            <a:solidFill>
              <a:srgbClr val="1E293B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4" name="Google Shape;268;p8"/>
          <p:cNvSpPr txBox="1"/>
          <p:nvPr/>
        </p:nvSpPr>
        <p:spPr>
          <a:xfrm>
            <a:off x="393191" y="3333495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40 %</a:t>
            </a:r>
          </a:p>
        </p:txBody>
      </p:sp>
      <p:sp>
        <p:nvSpPr>
          <p:cNvPr id="265" name="Google Shape;269;p8"/>
          <p:cNvSpPr/>
          <p:nvPr/>
        </p:nvSpPr>
        <p:spPr>
          <a:xfrm>
            <a:off x="868679" y="2503170"/>
            <a:ext cx="6583681" cy="1"/>
          </a:xfrm>
          <a:prstGeom prst="line">
            <a:avLst/>
          </a:prstGeom>
          <a:ln>
            <a:solidFill>
              <a:srgbClr val="1E293B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6" name="Google Shape;270;p8"/>
          <p:cNvSpPr txBox="1"/>
          <p:nvPr/>
        </p:nvSpPr>
        <p:spPr>
          <a:xfrm>
            <a:off x="393191" y="2430525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60 %</a:t>
            </a:r>
          </a:p>
        </p:txBody>
      </p:sp>
      <p:sp>
        <p:nvSpPr>
          <p:cNvPr id="267" name="Google Shape;271;p8"/>
          <p:cNvSpPr/>
          <p:nvPr/>
        </p:nvSpPr>
        <p:spPr>
          <a:xfrm>
            <a:off x="868679" y="1600200"/>
            <a:ext cx="6583681" cy="0"/>
          </a:xfrm>
          <a:prstGeom prst="line">
            <a:avLst/>
          </a:prstGeom>
          <a:ln>
            <a:solidFill>
              <a:srgbClr val="1E293B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8" name="Google Shape;272;p8"/>
          <p:cNvSpPr txBox="1"/>
          <p:nvPr/>
        </p:nvSpPr>
        <p:spPr>
          <a:xfrm>
            <a:off x="393191" y="152755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80 %</a:t>
            </a:r>
          </a:p>
        </p:txBody>
      </p:sp>
      <p:sp>
        <p:nvSpPr>
          <p:cNvPr id="269" name="Google Shape;273;p8"/>
          <p:cNvSpPr txBox="1"/>
          <p:nvPr/>
        </p:nvSpPr>
        <p:spPr>
          <a:xfrm>
            <a:off x="1188719" y="5377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EA0B8"/>
                </a:solidFill>
              </a:defRPr>
            </a:lvl1pPr>
          </a:lstStyle>
          <a:p>
            <a:pPr/>
            <a:r>
              <a:t>5 %</a:t>
            </a:r>
          </a:p>
        </p:txBody>
      </p:sp>
      <p:sp>
        <p:nvSpPr>
          <p:cNvPr id="270" name="Google Shape;274;p8"/>
          <p:cNvSpPr txBox="1"/>
          <p:nvPr/>
        </p:nvSpPr>
        <p:spPr>
          <a:xfrm>
            <a:off x="2926079" y="5377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EA0B8"/>
                </a:solidFill>
              </a:defRPr>
            </a:lvl1pPr>
          </a:lstStyle>
          <a:p>
            <a:pPr/>
            <a:r>
              <a:t>10 %</a:t>
            </a:r>
          </a:p>
        </p:txBody>
      </p:sp>
      <p:sp>
        <p:nvSpPr>
          <p:cNvPr id="271" name="Google Shape;275;p8"/>
          <p:cNvSpPr txBox="1"/>
          <p:nvPr/>
        </p:nvSpPr>
        <p:spPr>
          <a:xfrm>
            <a:off x="4663440" y="537718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EA0B8"/>
                </a:solidFill>
              </a:defRPr>
            </a:lvl1pPr>
          </a:lstStyle>
          <a:p>
            <a:pPr/>
            <a:r>
              <a:t>20 %</a:t>
            </a:r>
          </a:p>
        </p:txBody>
      </p:sp>
      <p:sp>
        <p:nvSpPr>
          <p:cNvPr id="272" name="Google Shape;276;p8"/>
          <p:cNvSpPr txBox="1"/>
          <p:nvPr/>
        </p:nvSpPr>
        <p:spPr>
          <a:xfrm>
            <a:off x="6400799" y="5377180"/>
            <a:ext cx="5486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8EA0B8"/>
                </a:solidFill>
              </a:defRPr>
            </a:lvl1pPr>
          </a:lstStyle>
          <a:p>
            <a:pPr/>
            <a:r>
              <a:t>30 %</a:t>
            </a:r>
          </a:p>
        </p:txBody>
      </p:sp>
      <p:sp>
        <p:nvSpPr>
          <p:cNvPr id="273" name="Google Shape;277;p8"/>
          <p:cNvSpPr/>
          <p:nvPr/>
        </p:nvSpPr>
        <p:spPr>
          <a:xfrm>
            <a:off x="1463039" y="2331605"/>
            <a:ext cx="1737361" cy="582417"/>
          </a:xfrm>
          <a:prstGeom prst="line">
            <a:avLst/>
          </a:prstGeom>
          <a:ln w="33000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4" name="Google Shape;278;p8"/>
          <p:cNvSpPr/>
          <p:nvPr/>
        </p:nvSpPr>
        <p:spPr>
          <a:xfrm>
            <a:off x="3200399" y="2914020"/>
            <a:ext cx="1737362" cy="699803"/>
          </a:xfrm>
          <a:prstGeom prst="line">
            <a:avLst/>
          </a:prstGeom>
          <a:ln w="33000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5" name="Google Shape;279;p8"/>
          <p:cNvSpPr/>
          <p:nvPr/>
        </p:nvSpPr>
        <p:spPr>
          <a:xfrm>
            <a:off x="4937759" y="3613822"/>
            <a:ext cx="1737361" cy="401823"/>
          </a:xfrm>
          <a:prstGeom prst="line">
            <a:avLst/>
          </a:prstGeom>
          <a:ln w="33000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6" name="Google Shape;280;p8"/>
          <p:cNvSpPr/>
          <p:nvPr/>
        </p:nvSpPr>
        <p:spPr>
          <a:xfrm>
            <a:off x="1399032" y="2267598"/>
            <a:ext cx="128017" cy="128017"/>
          </a:xfrm>
          <a:prstGeom prst="ellipse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77" name="Google Shape;281;p8"/>
          <p:cNvSpPr/>
          <p:nvPr/>
        </p:nvSpPr>
        <p:spPr>
          <a:xfrm>
            <a:off x="3136392" y="2850013"/>
            <a:ext cx="128017" cy="128017"/>
          </a:xfrm>
          <a:prstGeom prst="ellipse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78" name="Google Shape;282;p8"/>
          <p:cNvSpPr/>
          <p:nvPr/>
        </p:nvSpPr>
        <p:spPr>
          <a:xfrm>
            <a:off x="4873752" y="3549815"/>
            <a:ext cx="128017" cy="128017"/>
          </a:xfrm>
          <a:prstGeom prst="ellipse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79" name="Google Shape;283;p8"/>
          <p:cNvSpPr/>
          <p:nvPr/>
        </p:nvSpPr>
        <p:spPr>
          <a:xfrm>
            <a:off x="6611111" y="3951637"/>
            <a:ext cx="128017" cy="128017"/>
          </a:xfrm>
          <a:prstGeom prst="ellipse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80" name="Google Shape;284;p8"/>
          <p:cNvSpPr/>
          <p:nvPr/>
        </p:nvSpPr>
        <p:spPr>
          <a:xfrm flipV="1">
            <a:off x="1463039" y="3171367"/>
            <a:ext cx="1737361" cy="763011"/>
          </a:xfrm>
          <a:prstGeom prst="line">
            <a:avLst/>
          </a:prstGeom>
          <a:ln w="33000">
            <a:solidFill>
              <a:srgbClr val="55C7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1" name="Google Shape;285;p8"/>
          <p:cNvSpPr/>
          <p:nvPr/>
        </p:nvSpPr>
        <p:spPr>
          <a:xfrm flipV="1">
            <a:off x="3200399" y="2376753"/>
            <a:ext cx="1737362" cy="794615"/>
          </a:xfrm>
          <a:prstGeom prst="line">
            <a:avLst/>
          </a:prstGeom>
          <a:ln w="33000">
            <a:solidFill>
              <a:srgbClr val="55C7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2" name="Google Shape;286;p8"/>
          <p:cNvSpPr/>
          <p:nvPr/>
        </p:nvSpPr>
        <p:spPr>
          <a:xfrm flipV="1">
            <a:off x="4937759" y="2024596"/>
            <a:ext cx="1737361" cy="352159"/>
          </a:xfrm>
          <a:prstGeom prst="line">
            <a:avLst/>
          </a:prstGeom>
          <a:ln w="33000">
            <a:solidFill>
              <a:srgbClr val="55C7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3" name="Google Shape;287;p8"/>
          <p:cNvSpPr/>
          <p:nvPr/>
        </p:nvSpPr>
        <p:spPr>
          <a:xfrm>
            <a:off x="1399032" y="3870369"/>
            <a:ext cx="128017" cy="128017"/>
          </a:xfrm>
          <a:prstGeom prst="ellipse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84" name="Google Shape;288;p8"/>
          <p:cNvSpPr/>
          <p:nvPr/>
        </p:nvSpPr>
        <p:spPr>
          <a:xfrm>
            <a:off x="3136392" y="3107359"/>
            <a:ext cx="128017" cy="128017"/>
          </a:xfrm>
          <a:prstGeom prst="ellipse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85" name="Google Shape;289;p8"/>
          <p:cNvSpPr/>
          <p:nvPr/>
        </p:nvSpPr>
        <p:spPr>
          <a:xfrm>
            <a:off x="4873752" y="2312746"/>
            <a:ext cx="128017" cy="128017"/>
          </a:xfrm>
          <a:prstGeom prst="ellipse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86" name="Google Shape;290;p8"/>
          <p:cNvSpPr/>
          <p:nvPr/>
        </p:nvSpPr>
        <p:spPr>
          <a:xfrm>
            <a:off x="6611111" y="1960588"/>
            <a:ext cx="128017" cy="128017"/>
          </a:xfrm>
          <a:prstGeom prst="ellipse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87" name="Google Shape;291;p8"/>
          <p:cNvSpPr/>
          <p:nvPr/>
        </p:nvSpPr>
        <p:spPr>
          <a:xfrm>
            <a:off x="1463039" y="2345150"/>
            <a:ext cx="1737361" cy="577902"/>
          </a:xfrm>
          <a:prstGeom prst="line">
            <a:avLst/>
          </a:prstGeom>
          <a:ln w="33000">
            <a:solidFill>
              <a:srgbClr val="B18C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8" name="Google Shape;292;p8"/>
          <p:cNvSpPr/>
          <p:nvPr/>
        </p:nvSpPr>
        <p:spPr>
          <a:xfrm>
            <a:off x="3200399" y="2923051"/>
            <a:ext cx="1737362" cy="672714"/>
          </a:xfrm>
          <a:prstGeom prst="line">
            <a:avLst/>
          </a:prstGeom>
          <a:ln w="33000">
            <a:solidFill>
              <a:srgbClr val="B18C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9" name="Google Shape;293;p8"/>
          <p:cNvSpPr/>
          <p:nvPr/>
        </p:nvSpPr>
        <p:spPr>
          <a:xfrm>
            <a:off x="4937759" y="3595763"/>
            <a:ext cx="1737361" cy="415367"/>
          </a:xfrm>
          <a:prstGeom prst="line">
            <a:avLst/>
          </a:prstGeom>
          <a:ln w="33000">
            <a:solidFill>
              <a:srgbClr val="B18C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0" name="Google Shape;294;p8"/>
          <p:cNvSpPr/>
          <p:nvPr/>
        </p:nvSpPr>
        <p:spPr>
          <a:xfrm>
            <a:off x="1399032" y="2281141"/>
            <a:ext cx="128017" cy="128017"/>
          </a:xfrm>
          <a:prstGeom prst="ellipse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91" name="Google Shape;295;p8"/>
          <p:cNvSpPr/>
          <p:nvPr/>
        </p:nvSpPr>
        <p:spPr>
          <a:xfrm>
            <a:off x="3136392" y="2859042"/>
            <a:ext cx="128017" cy="128017"/>
          </a:xfrm>
          <a:prstGeom prst="ellipse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92" name="Google Shape;296;p8"/>
          <p:cNvSpPr/>
          <p:nvPr/>
        </p:nvSpPr>
        <p:spPr>
          <a:xfrm>
            <a:off x="4873752" y="3531756"/>
            <a:ext cx="128017" cy="128017"/>
          </a:xfrm>
          <a:prstGeom prst="ellipse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93" name="Google Shape;297;p8"/>
          <p:cNvSpPr/>
          <p:nvPr/>
        </p:nvSpPr>
        <p:spPr>
          <a:xfrm>
            <a:off x="6611111" y="3947121"/>
            <a:ext cx="128017" cy="128017"/>
          </a:xfrm>
          <a:prstGeom prst="ellipse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94" name="Google Shape;298;p8"/>
          <p:cNvSpPr txBox="1"/>
          <p:nvPr/>
        </p:nvSpPr>
        <p:spPr>
          <a:xfrm>
            <a:off x="1142999" y="5468619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42E8C6"/>
                </a:solidFill>
              </a:defRPr>
            </a:lvl1pPr>
          </a:lstStyle>
          <a:p>
            <a:pPr/>
            <a:r>
              <a:t>Précision GB</a:t>
            </a:r>
          </a:p>
        </p:txBody>
      </p:sp>
      <p:sp>
        <p:nvSpPr>
          <p:cNvPr id="295" name="Google Shape;299;p8"/>
          <p:cNvSpPr txBox="1"/>
          <p:nvPr/>
        </p:nvSpPr>
        <p:spPr>
          <a:xfrm>
            <a:off x="2423159" y="5468619"/>
            <a:ext cx="1645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5C7FF"/>
                </a:solidFill>
              </a:defRPr>
            </a:lvl1pPr>
          </a:lstStyle>
          <a:p>
            <a:pPr/>
            <a:r>
              <a:t>Souscripteurs captés GB</a:t>
            </a:r>
          </a:p>
        </p:txBody>
      </p:sp>
      <p:sp>
        <p:nvSpPr>
          <p:cNvPr id="296" name="Google Shape;300;p8"/>
          <p:cNvSpPr txBox="1"/>
          <p:nvPr/>
        </p:nvSpPr>
        <p:spPr>
          <a:xfrm>
            <a:off x="4297679" y="5468619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18CFF"/>
                </a:solidFill>
              </a:defRPr>
            </a:lvl1pPr>
          </a:lstStyle>
          <a:p>
            <a:pPr/>
            <a:r>
              <a:t>Précision RF</a:t>
            </a:r>
          </a:p>
        </p:txBody>
      </p:sp>
      <p:sp>
        <p:nvSpPr>
          <p:cNvPr id="297" name="Google Shape;301;p8"/>
          <p:cNvSpPr/>
          <p:nvPr/>
        </p:nvSpPr>
        <p:spPr>
          <a:xfrm>
            <a:off x="7818119" y="1600200"/>
            <a:ext cx="3566161" cy="3611880"/>
          </a:xfrm>
          <a:prstGeom prst="roundRect">
            <a:avLst>
              <a:gd name="adj" fmla="val 2051"/>
            </a:avLst>
          </a:prstGeom>
          <a:solidFill>
            <a:srgbClr val="101827"/>
          </a:solidFill>
          <a:ln w="21575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98" name="Google Shape;302;p8"/>
          <p:cNvSpPr txBox="1"/>
          <p:nvPr/>
        </p:nvSpPr>
        <p:spPr>
          <a:xfrm>
            <a:off x="8138159" y="1879067"/>
            <a:ext cx="246888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42E8C6"/>
                </a:solidFill>
              </a:defRPr>
            </a:lvl1pPr>
          </a:lstStyle>
          <a:p>
            <a:pPr/>
            <a:r>
              <a:t>Hypothèse retenue</a:t>
            </a:r>
          </a:p>
        </p:txBody>
      </p:sp>
      <p:sp>
        <p:nvSpPr>
          <p:cNvPr id="299" name="Google Shape;303;p8"/>
          <p:cNvSpPr txBox="1"/>
          <p:nvPr/>
        </p:nvSpPr>
        <p:spPr>
          <a:xfrm>
            <a:off x="8138159" y="2181372"/>
            <a:ext cx="2560321" cy="776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F8FAFC"/>
                </a:solidFill>
              </a:defRPr>
            </a:lvl1pPr>
          </a:lstStyle>
          <a:p>
            <a:pPr/>
            <a:r>
              <a:t>Capacité = 10 %</a:t>
            </a:r>
          </a:p>
        </p:txBody>
      </p:sp>
      <p:sp>
        <p:nvSpPr>
          <p:cNvPr id="300" name="Google Shape;304;p8"/>
          <p:cNvSpPr txBox="1"/>
          <p:nvPr/>
        </p:nvSpPr>
        <p:spPr>
          <a:xfrm>
            <a:off x="8138159" y="3089423"/>
            <a:ext cx="237744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8FAFC"/>
                </a:solidFill>
              </a:defRPr>
            </a:lvl1pPr>
          </a:lstStyle>
          <a:p>
            <a:pPr/>
            <a:r>
              <a:t>Gradient Boosting</a:t>
            </a:r>
          </a:p>
        </p:txBody>
      </p:sp>
      <p:sp>
        <p:nvSpPr>
          <p:cNvPr id="301" name="Google Shape;305;p8"/>
          <p:cNvSpPr txBox="1"/>
          <p:nvPr/>
        </p:nvSpPr>
        <p:spPr>
          <a:xfrm>
            <a:off x="8138159" y="3493008"/>
            <a:ext cx="2514601" cy="1051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>
                <a:solidFill>
                  <a:srgbClr val="DCE5F2"/>
                </a:solidFill>
              </a:defRPr>
            </a:pPr>
            <a:r>
              <a:t>50,9 % de précision</a:t>
            </a:r>
          </a:p>
          <a:p>
            <a:pPr>
              <a:defRPr>
                <a:solidFill>
                  <a:srgbClr val="DCE5F2"/>
                </a:solidFill>
              </a:defRPr>
            </a:pPr>
            <a:r>
              <a:t>45,2 % des souscripteurs captés</a:t>
            </a:r>
          </a:p>
          <a:p>
            <a:pPr>
              <a:defRPr>
                <a:solidFill>
                  <a:srgbClr val="DCE5F2"/>
                </a:solidFill>
              </a:defRPr>
            </a:pPr>
            <a:r>
              <a:t>lift 4,52</a:t>
            </a:r>
          </a:p>
        </p:txBody>
      </p:sp>
      <p:sp>
        <p:nvSpPr>
          <p:cNvPr id="302" name="Google Shape;306;p8"/>
          <p:cNvSpPr txBox="1"/>
          <p:nvPr/>
        </p:nvSpPr>
        <p:spPr>
          <a:xfrm>
            <a:off x="8138159" y="4645152"/>
            <a:ext cx="2560321" cy="530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100">
                <a:solidFill>
                  <a:srgbClr val="8EA0B8"/>
                </a:solidFill>
              </a:defRPr>
            </a:pPr>
            <a:r>
              <a:t>Seuil implicite OOF ≈ 0,319</a:t>
            </a:r>
          </a:p>
          <a:p>
            <a:pPr>
              <a:defRPr sz="1100">
                <a:solidFill>
                  <a:srgbClr val="8EA0B8"/>
                </a:solidFill>
              </a:defRPr>
            </a:pPr>
            <a:r>
              <a:t>→ non figé en production</a:t>
            </a:r>
          </a:p>
        </p:txBody>
      </p:sp>
      <p:sp>
        <p:nvSpPr>
          <p:cNvPr id="303" name="Google Shape;307;p8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13;p9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08" name="Google Shape;314;p9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CHOIX FINAL</a:t>
            </a:r>
          </a:p>
        </p:txBody>
      </p:sp>
      <p:sp>
        <p:nvSpPr>
          <p:cNvPr id="309" name="Google Shape;315;p9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Pourquoi Gradient Boosting ?</a:t>
            </a:r>
          </a:p>
        </p:txBody>
      </p:sp>
      <p:sp>
        <p:nvSpPr>
          <p:cNvPr id="310" name="Google Shape;316;p9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À capacité égale, les performances métier sont quasi identiques — l’exploitation fait la différence</a:t>
            </a:r>
          </a:p>
        </p:txBody>
      </p:sp>
      <p:sp>
        <p:nvSpPr>
          <p:cNvPr id="311" name="Google Shape;317;p9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12" name="Google Shape;318;p9"/>
          <p:cNvSpPr/>
          <p:nvPr/>
        </p:nvSpPr>
        <p:spPr>
          <a:xfrm>
            <a:off x="777240" y="1463039"/>
            <a:ext cx="2377440" cy="701041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13" name="Google Shape;319;p9"/>
          <p:cNvSpPr txBox="1"/>
          <p:nvPr/>
        </p:nvSpPr>
        <p:spPr>
          <a:xfrm>
            <a:off x="822960" y="1499616"/>
            <a:ext cx="228600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Critère</a:t>
            </a:r>
          </a:p>
        </p:txBody>
      </p:sp>
      <p:sp>
        <p:nvSpPr>
          <p:cNvPr id="314" name="Google Shape;320;p9"/>
          <p:cNvSpPr/>
          <p:nvPr/>
        </p:nvSpPr>
        <p:spPr>
          <a:xfrm>
            <a:off x="3154679" y="1463039"/>
            <a:ext cx="2148841" cy="701041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15" name="Google Shape;321;p9"/>
          <p:cNvSpPr txBox="1"/>
          <p:nvPr/>
        </p:nvSpPr>
        <p:spPr>
          <a:xfrm>
            <a:off x="3200400" y="1499616"/>
            <a:ext cx="2057400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316" name="Google Shape;322;p9"/>
          <p:cNvSpPr/>
          <p:nvPr/>
        </p:nvSpPr>
        <p:spPr>
          <a:xfrm>
            <a:off x="5303520" y="1463039"/>
            <a:ext cx="2331721" cy="701041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17" name="Google Shape;323;p9"/>
          <p:cNvSpPr txBox="1"/>
          <p:nvPr/>
        </p:nvSpPr>
        <p:spPr>
          <a:xfrm>
            <a:off x="5349240" y="1499616"/>
            <a:ext cx="224028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Gradient Boosting</a:t>
            </a:r>
          </a:p>
        </p:txBody>
      </p:sp>
      <p:sp>
        <p:nvSpPr>
          <p:cNvPr id="318" name="Google Shape;324;p9"/>
          <p:cNvSpPr/>
          <p:nvPr/>
        </p:nvSpPr>
        <p:spPr>
          <a:xfrm>
            <a:off x="777240" y="2164079"/>
            <a:ext cx="2377440" cy="70104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19" name="Google Shape;325;p9"/>
          <p:cNvSpPr txBox="1"/>
          <p:nvPr/>
        </p:nvSpPr>
        <p:spPr>
          <a:xfrm>
            <a:off x="822960" y="2200655"/>
            <a:ext cx="228600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Précision top 10 %</a:t>
            </a:r>
          </a:p>
        </p:txBody>
      </p:sp>
      <p:sp>
        <p:nvSpPr>
          <p:cNvPr id="320" name="Google Shape;326;p9"/>
          <p:cNvSpPr/>
          <p:nvPr/>
        </p:nvSpPr>
        <p:spPr>
          <a:xfrm>
            <a:off x="3154679" y="2164079"/>
            <a:ext cx="2148841" cy="70104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21" name="Google Shape;327;p9"/>
          <p:cNvSpPr txBox="1"/>
          <p:nvPr/>
        </p:nvSpPr>
        <p:spPr>
          <a:xfrm>
            <a:off x="3200400" y="2200655"/>
            <a:ext cx="2057400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50,7 %</a:t>
            </a:r>
          </a:p>
        </p:txBody>
      </p:sp>
      <p:sp>
        <p:nvSpPr>
          <p:cNvPr id="322" name="Google Shape;328;p9"/>
          <p:cNvSpPr/>
          <p:nvPr/>
        </p:nvSpPr>
        <p:spPr>
          <a:xfrm>
            <a:off x="5303520" y="2164079"/>
            <a:ext cx="2331721" cy="70104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23" name="Google Shape;329;p9"/>
          <p:cNvSpPr txBox="1"/>
          <p:nvPr/>
        </p:nvSpPr>
        <p:spPr>
          <a:xfrm>
            <a:off x="5349240" y="2200655"/>
            <a:ext cx="224028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50,9 %</a:t>
            </a:r>
          </a:p>
        </p:txBody>
      </p:sp>
      <p:sp>
        <p:nvSpPr>
          <p:cNvPr id="324" name="Google Shape;330;p9"/>
          <p:cNvSpPr/>
          <p:nvPr/>
        </p:nvSpPr>
        <p:spPr>
          <a:xfrm>
            <a:off x="777240" y="2865120"/>
            <a:ext cx="2377440" cy="70104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25" name="Google Shape;331;p9"/>
          <p:cNvSpPr txBox="1"/>
          <p:nvPr/>
        </p:nvSpPr>
        <p:spPr>
          <a:xfrm>
            <a:off x="822960" y="2901695"/>
            <a:ext cx="228600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Souscripteurs captés</a:t>
            </a:r>
          </a:p>
        </p:txBody>
      </p:sp>
      <p:sp>
        <p:nvSpPr>
          <p:cNvPr id="326" name="Google Shape;332;p9"/>
          <p:cNvSpPr/>
          <p:nvPr/>
        </p:nvSpPr>
        <p:spPr>
          <a:xfrm>
            <a:off x="3154679" y="2865120"/>
            <a:ext cx="2148841" cy="70104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27" name="Google Shape;333;p9"/>
          <p:cNvSpPr txBox="1"/>
          <p:nvPr/>
        </p:nvSpPr>
        <p:spPr>
          <a:xfrm>
            <a:off x="3200400" y="2901695"/>
            <a:ext cx="2057400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45,0 %</a:t>
            </a:r>
          </a:p>
        </p:txBody>
      </p:sp>
      <p:sp>
        <p:nvSpPr>
          <p:cNvPr id="328" name="Google Shape;334;p9"/>
          <p:cNvSpPr/>
          <p:nvPr/>
        </p:nvSpPr>
        <p:spPr>
          <a:xfrm>
            <a:off x="5303520" y="2865120"/>
            <a:ext cx="2331721" cy="70104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29" name="Google Shape;335;p9"/>
          <p:cNvSpPr txBox="1"/>
          <p:nvPr/>
        </p:nvSpPr>
        <p:spPr>
          <a:xfrm>
            <a:off x="5349240" y="2901695"/>
            <a:ext cx="224028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45,2 %</a:t>
            </a:r>
          </a:p>
        </p:txBody>
      </p:sp>
      <p:sp>
        <p:nvSpPr>
          <p:cNvPr id="330" name="Google Shape;336;p9"/>
          <p:cNvSpPr/>
          <p:nvPr/>
        </p:nvSpPr>
        <p:spPr>
          <a:xfrm>
            <a:off x="777240" y="3566159"/>
            <a:ext cx="2377440" cy="70104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1" name="Google Shape;337;p9"/>
          <p:cNvSpPr txBox="1"/>
          <p:nvPr/>
        </p:nvSpPr>
        <p:spPr>
          <a:xfrm>
            <a:off x="822960" y="3602735"/>
            <a:ext cx="228600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Lift</a:t>
            </a:r>
          </a:p>
        </p:txBody>
      </p:sp>
      <p:sp>
        <p:nvSpPr>
          <p:cNvPr id="332" name="Google Shape;338;p9"/>
          <p:cNvSpPr/>
          <p:nvPr/>
        </p:nvSpPr>
        <p:spPr>
          <a:xfrm>
            <a:off x="3154679" y="3566159"/>
            <a:ext cx="2148841" cy="70104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3" name="Google Shape;339;p9"/>
          <p:cNvSpPr txBox="1"/>
          <p:nvPr/>
        </p:nvSpPr>
        <p:spPr>
          <a:xfrm>
            <a:off x="3200400" y="3602735"/>
            <a:ext cx="2057400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4,50×</a:t>
            </a:r>
          </a:p>
        </p:txBody>
      </p:sp>
      <p:sp>
        <p:nvSpPr>
          <p:cNvPr id="334" name="Google Shape;340;p9"/>
          <p:cNvSpPr/>
          <p:nvPr/>
        </p:nvSpPr>
        <p:spPr>
          <a:xfrm>
            <a:off x="5303520" y="3566159"/>
            <a:ext cx="2331721" cy="70104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5" name="Google Shape;341;p9"/>
          <p:cNvSpPr txBox="1"/>
          <p:nvPr/>
        </p:nvSpPr>
        <p:spPr>
          <a:xfrm>
            <a:off x="5349240" y="3602735"/>
            <a:ext cx="224028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4,52×</a:t>
            </a:r>
          </a:p>
        </p:txBody>
      </p:sp>
      <p:sp>
        <p:nvSpPr>
          <p:cNvPr id="336" name="Google Shape;342;p9"/>
          <p:cNvSpPr/>
          <p:nvPr/>
        </p:nvSpPr>
        <p:spPr>
          <a:xfrm>
            <a:off x="777240" y="4267199"/>
            <a:ext cx="2377440" cy="701042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7" name="Google Shape;343;p9"/>
          <p:cNvSpPr txBox="1"/>
          <p:nvPr/>
        </p:nvSpPr>
        <p:spPr>
          <a:xfrm>
            <a:off x="822960" y="4303776"/>
            <a:ext cx="228600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CPU / 1000 préd.</a:t>
            </a:r>
          </a:p>
        </p:txBody>
      </p:sp>
      <p:sp>
        <p:nvSpPr>
          <p:cNvPr id="338" name="Google Shape;344;p9"/>
          <p:cNvSpPr/>
          <p:nvPr/>
        </p:nvSpPr>
        <p:spPr>
          <a:xfrm>
            <a:off x="3154679" y="4267199"/>
            <a:ext cx="2148841" cy="701042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9" name="Google Shape;345;p9"/>
          <p:cNvSpPr txBox="1"/>
          <p:nvPr/>
        </p:nvSpPr>
        <p:spPr>
          <a:xfrm>
            <a:off x="3200400" y="4303776"/>
            <a:ext cx="2057400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0,0144 s</a:t>
            </a:r>
          </a:p>
        </p:txBody>
      </p:sp>
      <p:sp>
        <p:nvSpPr>
          <p:cNvPr id="340" name="Google Shape;346;p9"/>
          <p:cNvSpPr/>
          <p:nvPr/>
        </p:nvSpPr>
        <p:spPr>
          <a:xfrm>
            <a:off x="5303520" y="4267199"/>
            <a:ext cx="2331721" cy="701042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41" name="Google Shape;347;p9"/>
          <p:cNvSpPr txBox="1"/>
          <p:nvPr/>
        </p:nvSpPr>
        <p:spPr>
          <a:xfrm>
            <a:off x="5349240" y="4303776"/>
            <a:ext cx="224028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0,0027 s</a:t>
            </a:r>
          </a:p>
        </p:txBody>
      </p:sp>
      <p:sp>
        <p:nvSpPr>
          <p:cNvPr id="342" name="Google Shape;348;p9"/>
          <p:cNvSpPr/>
          <p:nvPr/>
        </p:nvSpPr>
        <p:spPr>
          <a:xfrm>
            <a:off x="777240" y="4968240"/>
            <a:ext cx="2377440" cy="70104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43" name="Google Shape;349;p9"/>
          <p:cNvSpPr txBox="1"/>
          <p:nvPr/>
        </p:nvSpPr>
        <p:spPr>
          <a:xfrm>
            <a:off x="822960" y="5004815"/>
            <a:ext cx="228600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Latence p95</a:t>
            </a:r>
          </a:p>
        </p:txBody>
      </p:sp>
      <p:sp>
        <p:nvSpPr>
          <p:cNvPr id="344" name="Google Shape;350;p9"/>
          <p:cNvSpPr/>
          <p:nvPr/>
        </p:nvSpPr>
        <p:spPr>
          <a:xfrm>
            <a:off x="3154679" y="4968240"/>
            <a:ext cx="2148841" cy="70104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45" name="Google Shape;351;p9"/>
          <p:cNvSpPr txBox="1"/>
          <p:nvPr/>
        </p:nvSpPr>
        <p:spPr>
          <a:xfrm>
            <a:off x="3200400" y="5004815"/>
            <a:ext cx="2057400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3,41 ms</a:t>
            </a:r>
          </a:p>
        </p:txBody>
      </p:sp>
      <p:sp>
        <p:nvSpPr>
          <p:cNvPr id="346" name="Google Shape;352;p9"/>
          <p:cNvSpPr/>
          <p:nvPr/>
        </p:nvSpPr>
        <p:spPr>
          <a:xfrm>
            <a:off x="5303520" y="4968240"/>
            <a:ext cx="2331721" cy="70104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47" name="Google Shape;353;p9"/>
          <p:cNvSpPr txBox="1"/>
          <p:nvPr/>
        </p:nvSpPr>
        <p:spPr>
          <a:xfrm>
            <a:off x="5349240" y="5004815"/>
            <a:ext cx="2240281" cy="627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1,17 ms</a:t>
            </a:r>
          </a:p>
        </p:txBody>
      </p:sp>
      <p:sp>
        <p:nvSpPr>
          <p:cNvPr id="348" name="Google Shape;354;p9"/>
          <p:cNvSpPr/>
          <p:nvPr/>
        </p:nvSpPr>
        <p:spPr>
          <a:xfrm>
            <a:off x="8001000" y="1463039"/>
            <a:ext cx="3337560" cy="4206242"/>
          </a:xfrm>
          <a:prstGeom prst="roundRect">
            <a:avLst>
              <a:gd name="adj" fmla="val 2192"/>
            </a:avLst>
          </a:prstGeom>
          <a:solidFill>
            <a:srgbClr val="102A2C"/>
          </a:solidFill>
          <a:ln w="21575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49" name="Google Shape;355;p9"/>
          <p:cNvSpPr txBox="1"/>
          <p:nvPr/>
        </p:nvSpPr>
        <p:spPr>
          <a:xfrm>
            <a:off x="8302752" y="1796771"/>
            <a:ext cx="146304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42E8C6"/>
                </a:solidFill>
              </a:defRPr>
            </a:lvl1pPr>
          </a:lstStyle>
          <a:p>
            <a:pPr/>
            <a:r>
              <a:t>Décision</a:t>
            </a:r>
          </a:p>
        </p:txBody>
      </p:sp>
      <p:sp>
        <p:nvSpPr>
          <p:cNvPr id="350" name="Google Shape;356;p9"/>
          <p:cNvSpPr txBox="1"/>
          <p:nvPr/>
        </p:nvSpPr>
        <p:spPr>
          <a:xfrm>
            <a:off x="8302752" y="2285999"/>
            <a:ext cx="2468881" cy="50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77240">
              <a:defRPr b="1" sz="2210">
                <a:solidFill>
                  <a:srgbClr val="F8FAFC"/>
                </a:solidFill>
              </a:defRPr>
            </a:lvl1pPr>
          </a:lstStyle>
          <a:p>
            <a:pPr/>
            <a:r>
              <a:t>Gradient Boosting</a:t>
            </a:r>
          </a:p>
        </p:txBody>
      </p:sp>
      <p:sp>
        <p:nvSpPr>
          <p:cNvPr id="351" name="Google Shape;357;p9"/>
          <p:cNvSpPr txBox="1"/>
          <p:nvPr/>
        </p:nvSpPr>
        <p:spPr>
          <a:xfrm>
            <a:off x="8302752" y="3063239"/>
            <a:ext cx="2560321" cy="146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15 variables (S3)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n_estimators = 100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learning_rate = 0,1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max_depth = 3</a:t>
            </a:r>
          </a:p>
        </p:txBody>
      </p:sp>
      <p:sp>
        <p:nvSpPr>
          <p:cNvPr id="352" name="Google Shape;358;p9"/>
          <p:cNvSpPr txBox="1"/>
          <p:nvPr/>
        </p:nvSpPr>
        <p:spPr>
          <a:xfrm>
            <a:off x="8302752" y="4709159"/>
            <a:ext cx="2514601" cy="594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41247">
              <a:defRPr b="1" sz="1380">
                <a:solidFill>
                  <a:srgbClr val="42E8C6"/>
                </a:solidFill>
              </a:defRPr>
            </a:lvl1pPr>
          </a:lstStyle>
          <a:p>
            <a:pPr/>
            <a:r>
              <a:t>Le gain opérationnel est réel sans sacrifier le résultat métier</a:t>
            </a:r>
          </a:p>
        </p:txBody>
      </p:sp>
      <p:sp>
        <p:nvSpPr>
          <p:cNvPr id="353" name="Google Shape;359;p9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65;p10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57E49B"/>
          </a:solidFill>
          <a:ln w="12700">
            <a:solidFill>
              <a:srgbClr val="57E49B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58" name="Google Shape;366;p10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RÉSULTAT</a:t>
            </a:r>
          </a:p>
        </p:txBody>
      </p:sp>
      <p:sp>
        <p:nvSpPr>
          <p:cNvPr id="359" name="Google Shape;367;p10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32104">
              <a:defRPr b="1" sz="2457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Sur le test : 10 % d’appels concentrent presque la moitié des souscripteurs</a:t>
            </a:r>
          </a:p>
        </p:txBody>
      </p:sp>
      <p:sp>
        <p:nvSpPr>
          <p:cNvPr id="360" name="Google Shape;368;p10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Évaluation finale, après choix du scénario, du modèle et de la capacité</a:t>
            </a:r>
          </a:p>
        </p:txBody>
      </p:sp>
      <p:sp>
        <p:nvSpPr>
          <p:cNvPr id="361" name="Google Shape;369;p10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2" name="Google Shape;370;p10"/>
          <p:cNvSpPr/>
          <p:nvPr/>
        </p:nvSpPr>
        <p:spPr>
          <a:xfrm>
            <a:off x="594359" y="1371600"/>
            <a:ext cx="2212850" cy="1353312"/>
          </a:xfrm>
          <a:prstGeom prst="roundRect">
            <a:avLst>
              <a:gd name="adj" fmla="val 5405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63" name="Google Shape;371;p10"/>
          <p:cNvSpPr/>
          <p:nvPr/>
        </p:nvSpPr>
        <p:spPr>
          <a:xfrm>
            <a:off x="594359" y="1371599"/>
            <a:ext cx="54865" cy="1353314"/>
          </a:xfrm>
          <a:prstGeom prst="rect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64" name="Google Shape;372;p10"/>
          <p:cNvSpPr txBox="1"/>
          <p:nvPr/>
        </p:nvSpPr>
        <p:spPr>
          <a:xfrm>
            <a:off x="795528" y="1555287"/>
            <a:ext cx="1892807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Clients test</a:t>
            </a:r>
          </a:p>
        </p:txBody>
      </p:sp>
      <p:sp>
        <p:nvSpPr>
          <p:cNvPr id="365" name="Google Shape;373;p10"/>
          <p:cNvSpPr txBox="1"/>
          <p:nvPr/>
        </p:nvSpPr>
        <p:spPr>
          <a:xfrm>
            <a:off x="795528" y="1851011"/>
            <a:ext cx="1892807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8 238</a:t>
            </a:r>
          </a:p>
        </p:txBody>
      </p:sp>
      <p:sp>
        <p:nvSpPr>
          <p:cNvPr id="366" name="Google Shape;374;p10"/>
          <p:cNvSpPr/>
          <p:nvPr/>
        </p:nvSpPr>
        <p:spPr>
          <a:xfrm>
            <a:off x="2907792" y="1371600"/>
            <a:ext cx="2212849" cy="1353312"/>
          </a:xfrm>
          <a:prstGeom prst="roundRect">
            <a:avLst>
              <a:gd name="adj" fmla="val 5405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67" name="Google Shape;375;p10"/>
          <p:cNvSpPr/>
          <p:nvPr/>
        </p:nvSpPr>
        <p:spPr>
          <a:xfrm>
            <a:off x="2907792" y="1371599"/>
            <a:ext cx="54865" cy="1353314"/>
          </a:xfrm>
          <a:prstGeom prst="rect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68" name="Google Shape;376;p10"/>
          <p:cNvSpPr txBox="1"/>
          <p:nvPr/>
        </p:nvSpPr>
        <p:spPr>
          <a:xfrm>
            <a:off x="3108960" y="1555287"/>
            <a:ext cx="1892808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Clients appelés</a:t>
            </a:r>
          </a:p>
        </p:txBody>
      </p:sp>
      <p:sp>
        <p:nvSpPr>
          <p:cNvPr id="369" name="Google Shape;377;p10"/>
          <p:cNvSpPr txBox="1"/>
          <p:nvPr/>
        </p:nvSpPr>
        <p:spPr>
          <a:xfrm>
            <a:off x="3108960" y="1851011"/>
            <a:ext cx="1892808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824</a:t>
            </a:r>
          </a:p>
        </p:txBody>
      </p:sp>
      <p:sp>
        <p:nvSpPr>
          <p:cNvPr id="370" name="Google Shape;378;p10"/>
          <p:cNvSpPr txBox="1"/>
          <p:nvPr/>
        </p:nvSpPr>
        <p:spPr>
          <a:xfrm>
            <a:off x="3108960" y="2441956"/>
            <a:ext cx="18928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10 % de capacité</a:t>
            </a:r>
          </a:p>
        </p:txBody>
      </p:sp>
      <p:sp>
        <p:nvSpPr>
          <p:cNvPr id="371" name="Google Shape;379;p10"/>
          <p:cNvSpPr/>
          <p:nvPr/>
        </p:nvSpPr>
        <p:spPr>
          <a:xfrm>
            <a:off x="5221223" y="1371600"/>
            <a:ext cx="2212850" cy="1353312"/>
          </a:xfrm>
          <a:prstGeom prst="roundRect">
            <a:avLst>
              <a:gd name="adj" fmla="val 5405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72" name="Google Shape;380;p10"/>
          <p:cNvSpPr/>
          <p:nvPr/>
        </p:nvSpPr>
        <p:spPr>
          <a:xfrm>
            <a:off x="5221223" y="1371599"/>
            <a:ext cx="54865" cy="1353314"/>
          </a:xfrm>
          <a:prstGeom prst="rect">
            <a:avLst/>
          </a:prstGeom>
          <a:solidFill>
            <a:srgbClr val="57E49B"/>
          </a:solidFill>
          <a:ln w="12700">
            <a:solidFill>
              <a:srgbClr val="57E49B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73" name="Google Shape;381;p10"/>
          <p:cNvSpPr txBox="1"/>
          <p:nvPr/>
        </p:nvSpPr>
        <p:spPr>
          <a:xfrm>
            <a:off x="5422391" y="1555287"/>
            <a:ext cx="1892808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Souscripteurs trouvés</a:t>
            </a:r>
          </a:p>
        </p:txBody>
      </p:sp>
      <p:sp>
        <p:nvSpPr>
          <p:cNvPr id="374" name="Google Shape;382;p10"/>
          <p:cNvSpPr txBox="1"/>
          <p:nvPr/>
        </p:nvSpPr>
        <p:spPr>
          <a:xfrm>
            <a:off x="5422391" y="1851011"/>
            <a:ext cx="1892808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453</a:t>
            </a:r>
          </a:p>
        </p:txBody>
      </p:sp>
      <p:sp>
        <p:nvSpPr>
          <p:cNvPr id="375" name="Google Shape;383;p10"/>
          <p:cNvSpPr/>
          <p:nvPr/>
        </p:nvSpPr>
        <p:spPr>
          <a:xfrm>
            <a:off x="7534656" y="1371600"/>
            <a:ext cx="2212849" cy="1353312"/>
          </a:xfrm>
          <a:prstGeom prst="roundRect">
            <a:avLst>
              <a:gd name="adj" fmla="val 5405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76" name="Google Shape;384;p10"/>
          <p:cNvSpPr/>
          <p:nvPr/>
        </p:nvSpPr>
        <p:spPr>
          <a:xfrm>
            <a:off x="7534656" y="1371599"/>
            <a:ext cx="54865" cy="1353314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77" name="Google Shape;385;p10"/>
          <p:cNvSpPr txBox="1"/>
          <p:nvPr/>
        </p:nvSpPr>
        <p:spPr>
          <a:xfrm>
            <a:off x="7735823" y="1555287"/>
            <a:ext cx="1892808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Taux de souscription</a:t>
            </a:r>
          </a:p>
        </p:txBody>
      </p:sp>
      <p:sp>
        <p:nvSpPr>
          <p:cNvPr id="378" name="Google Shape;386;p10"/>
          <p:cNvSpPr txBox="1"/>
          <p:nvPr/>
        </p:nvSpPr>
        <p:spPr>
          <a:xfrm>
            <a:off x="7735823" y="1851011"/>
            <a:ext cx="1892808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55,0 %</a:t>
            </a:r>
          </a:p>
        </p:txBody>
      </p:sp>
      <p:sp>
        <p:nvSpPr>
          <p:cNvPr id="379" name="Google Shape;387;p10"/>
          <p:cNvSpPr txBox="1"/>
          <p:nvPr/>
        </p:nvSpPr>
        <p:spPr>
          <a:xfrm>
            <a:off x="7735823" y="2441956"/>
            <a:ext cx="18928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EA0B8"/>
                </a:solidFill>
              </a:defRPr>
            </a:lvl1pPr>
          </a:lstStyle>
          <a:p>
            <a:pPr/>
            <a:r>
              <a:t>contre ≈ 11 % sans ciblage</a:t>
            </a:r>
          </a:p>
        </p:txBody>
      </p:sp>
      <p:sp>
        <p:nvSpPr>
          <p:cNvPr id="380" name="Google Shape;388;p10"/>
          <p:cNvSpPr/>
          <p:nvPr/>
        </p:nvSpPr>
        <p:spPr>
          <a:xfrm>
            <a:off x="9848088" y="1371600"/>
            <a:ext cx="1737361" cy="1353312"/>
          </a:xfrm>
          <a:prstGeom prst="roundRect">
            <a:avLst>
              <a:gd name="adj" fmla="val 5405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81" name="Google Shape;389;p10"/>
          <p:cNvSpPr/>
          <p:nvPr/>
        </p:nvSpPr>
        <p:spPr>
          <a:xfrm>
            <a:off x="9848088" y="1371599"/>
            <a:ext cx="54865" cy="1353314"/>
          </a:xfrm>
          <a:prstGeom prst="rect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82" name="Google Shape;390;p10"/>
          <p:cNvSpPr txBox="1"/>
          <p:nvPr/>
        </p:nvSpPr>
        <p:spPr>
          <a:xfrm>
            <a:off x="10049256" y="1555287"/>
            <a:ext cx="141732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Lift</a:t>
            </a:r>
          </a:p>
        </p:txBody>
      </p:sp>
      <p:sp>
        <p:nvSpPr>
          <p:cNvPr id="383" name="Google Shape;391;p10"/>
          <p:cNvSpPr txBox="1"/>
          <p:nvPr/>
        </p:nvSpPr>
        <p:spPr>
          <a:xfrm>
            <a:off x="10049256" y="1851011"/>
            <a:ext cx="1417321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4,88×</a:t>
            </a:r>
          </a:p>
        </p:txBody>
      </p:sp>
      <p:sp>
        <p:nvSpPr>
          <p:cNvPr id="384" name="Google Shape;392;p10"/>
          <p:cNvSpPr txBox="1"/>
          <p:nvPr/>
        </p:nvSpPr>
        <p:spPr>
          <a:xfrm>
            <a:off x="1005839" y="3529604"/>
            <a:ext cx="2011680" cy="530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800">
                <a:solidFill>
                  <a:srgbClr val="F8FAFC"/>
                </a:solidFill>
              </a:defRPr>
            </a:lvl1pPr>
          </a:lstStyle>
          <a:p>
            <a:pPr/>
            <a:r>
              <a:t>48,8 %</a:t>
            </a:r>
          </a:p>
        </p:txBody>
      </p:sp>
      <p:sp>
        <p:nvSpPr>
          <p:cNvPr id="385" name="Google Shape;393;p10"/>
          <p:cNvSpPr txBox="1"/>
          <p:nvPr/>
        </p:nvSpPr>
        <p:spPr>
          <a:xfrm>
            <a:off x="777239" y="4160520"/>
            <a:ext cx="2468882" cy="658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300">
                <a:solidFill>
                  <a:srgbClr val="8EA0B8"/>
                </a:solidFill>
              </a:defRPr>
            </a:lvl1pPr>
          </a:lstStyle>
          <a:p>
            <a:pPr/>
            <a:r>
              <a:t>des souscripteurs du jeu de test sont captés</a:t>
            </a:r>
          </a:p>
        </p:txBody>
      </p:sp>
      <p:sp>
        <p:nvSpPr>
          <p:cNvPr id="386" name="Google Shape;394;p10"/>
          <p:cNvSpPr/>
          <p:nvPr/>
        </p:nvSpPr>
        <p:spPr>
          <a:xfrm>
            <a:off x="3383279" y="3840479"/>
            <a:ext cx="1188721" cy="1"/>
          </a:xfrm>
          <a:prstGeom prst="line">
            <a:avLst/>
          </a:prstGeom>
          <a:ln w="38100">
            <a:solidFill>
              <a:srgbClr val="42E8C6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87" name="Google Shape;395;p10"/>
          <p:cNvSpPr txBox="1"/>
          <p:nvPr/>
        </p:nvSpPr>
        <p:spPr>
          <a:xfrm>
            <a:off x="4800600" y="3310128"/>
            <a:ext cx="5943600" cy="109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300">
                <a:solidFill>
                  <a:srgbClr val="F8FAFC"/>
                </a:solidFill>
              </a:defRPr>
            </a:lvl1pPr>
          </a:lstStyle>
          <a:p>
            <a:pPr/>
            <a:r>
              <a:t>Le top 10 % transforme un taux de base de ≈ 11 % en une population ciblée à 55 % de souscription</a:t>
            </a:r>
          </a:p>
        </p:txBody>
      </p:sp>
      <p:sp>
        <p:nvSpPr>
          <p:cNvPr id="388" name="Google Shape;396;p10"/>
          <p:cNvSpPr txBox="1"/>
          <p:nvPr/>
        </p:nvSpPr>
        <p:spPr>
          <a:xfrm>
            <a:off x="4800599" y="4800600"/>
            <a:ext cx="5806442" cy="530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i="1" sz="1200">
                <a:solidFill>
                  <a:srgbClr val="8EA0B8"/>
                </a:solidFill>
              </a:defRPr>
            </a:lvl1pPr>
          </a:lstStyle>
          <a:p>
            <a:pPr/>
            <a:r>
              <a:t>Seuil implicite observé sur le test : 0,325 — il n’est pas utilisé comme constante de production</a:t>
            </a:r>
          </a:p>
        </p:txBody>
      </p:sp>
      <p:sp>
        <p:nvSpPr>
          <p:cNvPr id="389" name="Google Shape;397;p10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403;p11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94" name="Google Shape;404;p11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ITÉRATION</a:t>
            </a:r>
          </a:p>
        </p:txBody>
      </p:sp>
      <p:sp>
        <p:nvSpPr>
          <p:cNvPr id="395" name="Google Shape;405;p11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Une idée abandonnée après mesure : la zone d’abstention</a:t>
            </a:r>
          </a:p>
        </p:txBody>
      </p:sp>
      <p:sp>
        <p:nvSpPr>
          <p:cNvPr id="396" name="Google Shape;406;p11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[0,40 ; 0,60] semblait “incertaine”… mais elle contient d’excellents prospects</a:t>
            </a:r>
          </a:p>
        </p:txBody>
      </p:sp>
      <p:sp>
        <p:nvSpPr>
          <p:cNvPr id="397" name="Google Shape;407;p11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98" name="Google Shape;408;p11"/>
          <p:cNvSpPr/>
          <p:nvPr/>
        </p:nvSpPr>
        <p:spPr>
          <a:xfrm>
            <a:off x="777240" y="1417319"/>
            <a:ext cx="4709160" cy="4434842"/>
          </a:xfrm>
          <a:prstGeom prst="roundRect">
            <a:avLst>
              <a:gd name="adj" fmla="val 1649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99" name="Google Shape;409;p11"/>
          <p:cNvSpPr txBox="1"/>
          <p:nvPr/>
        </p:nvSpPr>
        <p:spPr>
          <a:xfrm>
            <a:off x="1097279" y="1796771"/>
            <a:ext cx="2103122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B547"/>
                </a:solidFill>
              </a:defRPr>
            </a:lvl1pPr>
          </a:lstStyle>
          <a:p>
            <a:pPr/>
            <a:r>
              <a:t>Hypothèse initiale</a:t>
            </a:r>
          </a:p>
        </p:txBody>
      </p:sp>
      <p:sp>
        <p:nvSpPr>
          <p:cNvPr id="400" name="Google Shape;410;p11"/>
          <p:cNvSpPr txBox="1"/>
          <p:nvPr/>
        </p:nvSpPr>
        <p:spPr>
          <a:xfrm>
            <a:off x="1097279" y="2331720"/>
            <a:ext cx="3794761" cy="960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13816">
              <a:defRPr b="1" sz="2136">
                <a:solidFill>
                  <a:srgbClr val="F8FAFC"/>
                </a:solidFill>
              </a:defRPr>
            </a:lvl1pPr>
          </a:lstStyle>
          <a:p>
            <a:pPr/>
            <a:r>
              <a:t>Ne pas décider automatiquement pour les scores proches de 0,5</a:t>
            </a:r>
          </a:p>
        </p:txBody>
      </p:sp>
      <p:sp>
        <p:nvSpPr>
          <p:cNvPr id="401" name="Google Shape;411;p11"/>
          <p:cNvSpPr/>
          <p:nvPr/>
        </p:nvSpPr>
        <p:spPr>
          <a:xfrm>
            <a:off x="1097280" y="3703320"/>
            <a:ext cx="2057401" cy="292609"/>
          </a:xfrm>
          <a:prstGeom prst="roundRect">
            <a:avLst>
              <a:gd name="adj" fmla="val 31250"/>
            </a:avLst>
          </a:prstGeom>
          <a:solidFill>
            <a:srgbClr val="162033"/>
          </a:solidFill>
          <a:ln w="127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02" name="Google Shape;412;p11"/>
          <p:cNvSpPr txBox="1"/>
          <p:nvPr/>
        </p:nvSpPr>
        <p:spPr>
          <a:xfrm>
            <a:off x="1152144" y="3772407"/>
            <a:ext cx="19476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B547"/>
                </a:solidFill>
              </a:defRPr>
            </a:lvl1pPr>
          </a:lstStyle>
          <a:p>
            <a:pPr/>
            <a:r>
              <a:t>Zone [0,40 ; 0,60]</a:t>
            </a:r>
          </a:p>
        </p:txBody>
      </p:sp>
      <p:sp>
        <p:nvSpPr>
          <p:cNvPr id="403" name="Google Shape;413;p11"/>
          <p:cNvSpPr txBox="1"/>
          <p:nvPr/>
        </p:nvSpPr>
        <p:spPr>
          <a:xfrm>
            <a:off x="1097280" y="4302712"/>
            <a:ext cx="27432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279 clients • 3,4 % du test</a:t>
            </a:r>
          </a:p>
        </p:txBody>
      </p:sp>
      <p:sp>
        <p:nvSpPr>
          <p:cNvPr id="404" name="Google Shape;414;p11"/>
          <p:cNvSpPr/>
          <p:nvPr/>
        </p:nvSpPr>
        <p:spPr>
          <a:xfrm>
            <a:off x="5714999" y="3383279"/>
            <a:ext cx="777242" cy="1"/>
          </a:xfrm>
          <a:prstGeom prst="line">
            <a:avLst/>
          </a:prstGeom>
          <a:ln w="38100">
            <a:solidFill>
              <a:srgbClr val="FFB547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05" name="Google Shape;415;p11"/>
          <p:cNvSpPr/>
          <p:nvPr/>
        </p:nvSpPr>
        <p:spPr>
          <a:xfrm>
            <a:off x="6720840" y="1417319"/>
            <a:ext cx="4572001" cy="4434842"/>
          </a:xfrm>
          <a:prstGeom prst="roundRect">
            <a:avLst>
              <a:gd name="adj" fmla="val 1649"/>
            </a:avLst>
          </a:prstGeom>
          <a:solidFill>
            <a:srgbClr val="2A2413"/>
          </a:solidFill>
          <a:ln w="1905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06" name="Google Shape;416;p11"/>
          <p:cNvSpPr txBox="1"/>
          <p:nvPr/>
        </p:nvSpPr>
        <p:spPr>
          <a:xfrm>
            <a:off x="7059168" y="1796771"/>
            <a:ext cx="292608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B547"/>
                </a:solidFill>
              </a:defRPr>
            </a:lvl1pPr>
          </a:lstStyle>
          <a:p>
            <a:pPr/>
            <a:r>
              <a:t>Ce que disent les données</a:t>
            </a:r>
          </a:p>
        </p:txBody>
      </p:sp>
      <p:sp>
        <p:nvSpPr>
          <p:cNvPr id="407" name="Google Shape;417;p11"/>
          <p:cNvSpPr/>
          <p:nvPr/>
        </p:nvSpPr>
        <p:spPr>
          <a:xfrm>
            <a:off x="7086600" y="2331720"/>
            <a:ext cx="1691640" cy="1188721"/>
          </a:xfrm>
          <a:prstGeom prst="roundRect">
            <a:avLst>
              <a:gd name="adj" fmla="val 6154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08" name="Google Shape;418;p11"/>
          <p:cNvSpPr/>
          <p:nvPr/>
        </p:nvSpPr>
        <p:spPr>
          <a:xfrm>
            <a:off x="7086600" y="2331720"/>
            <a:ext cx="54864" cy="1188721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09" name="Google Shape;419;p11"/>
          <p:cNvSpPr txBox="1"/>
          <p:nvPr/>
        </p:nvSpPr>
        <p:spPr>
          <a:xfrm>
            <a:off x="7287768" y="2515407"/>
            <a:ext cx="13716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Souscription réelle</a:t>
            </a:r>
          </a:p>
        </p:txBody>
      </p:sp>
      <p:sp>
        <p:nvSpPr>
          <p:cNvPr id="410" name="Google Shape;420;p11"/>
          <p:cNvSpPr txBox="1"/>
          <p:nvPr/>
        </p:nvSpPr>
        <p:spPr>
          <a:xfrm>
            <a:off x="7287768" y="2811131"/>
            <a:ext cx="1371601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53,0 %</a:t>
            </a:r>
          </a:p>
        </p:txBody>
      </p:sp>
      <p:sp>
        <p:nvSpPr>
          <p:cNvPr id="411" name="Google Shape;421;p11"/>
          <p:cNvSpPr/>
          <p:nvPr/>
        </p:nvSpPr>
        <p:spPr>
          <a:xfrm>
            <a:off x="9006840" y="2331720"/>
            <a:ext cx="1691641" cy="1188721"/>
          </a:xfrm>
          <a:prstGeom prst="roundRect">
            <a:avLst>
              <a:gd name="adj" fmla="val 6154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12" name="Google Shape;422;p11"/>
          <p:cNvSpPr/>
          <p:nvPr/>
        </p:nvSpPr>
        <p:spPr>
          <a:xfrm>
            <a:off x="9006840" y="2331720"/>
            <a:ext cx="54865" cy="1188721"/>
          </a:xfrm>
          <a:prstGeom prst="rect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13" name="Google Shape;423;p11"/>
          <p:cNvSpPr txBox="1"/>
          <p:nvPr/>
        </p:nvSpPr>
        <p:spPr>
          <a:xfrm>
            <a:off x="9208007" y="2515407"/>
            <a:ext cx="13716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Lift</a:t>
            </a:r>
          </a:p>
        </p:txBody>
      </p:sp>
      <p:sp>
        <p:nvSpPr>
          <p:cNvPr id="414" name="Google Shape;424;p11"/>
          <p:cNvSpPr txBox="1"/>
          <p:nvPr/>
        </p:nvSpPr>
        <p:spPr>
          <a:xfrm>
            <a:off x="9208007" y="2811131"/>
            <a:ext cx="1371601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4,71×</a:t>
            </a:r>
          </a:p>
        </p:txBody>
      </p:sp>
      <p:sp>
        <p:nvSpPr>
          <p:cNvPr id="415" name="Google Shape;425;p11"/>
          <p:cNvSpPr txBox="1"/>
          <p:nvPr/>
        </p:nvSpPr>
        <p:spPr>
          <a:xfrm>
            <a:off x="7086599" y="3977640"/>
            <a:ext cx="3474722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676655">
              <a:defRPr b="1" sz="1480">
                <a:solidFill>
                  <a:srgbClr val="F8FAFC"/>
                </a:solidFill>
              </a:defRPr>
            </a:lvl1pPr>
          </a:lstStyle>
          <a:p>
            <a:pPr/>
            <a:r>
              <a:t>Conclusion : ne pas s’abstenir automatiquement</a:t>
            </a:r>
          </a:p>
        </p:txBody>
      </p:sp>
      <p:sp>
        <p:nvSpPr>
          <p:cNvPr id="416" name="Google Shape;426;p11"/>
          <p:cNvSpPr txBox="1"/>
          <p:nvPr/>
        </p:nvSpPr>
        <p:spPr>
          <a:xfrm>
            <a:off x="7086599" y="4617720"/>
            <a:ext cx="35204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>
                <a:solidFill>
                  <a:srgbClr val="DCE5F2"/>
                </a:solidFill>
              </a:defRPr>
            </a:lvl1pPr>
          </a:lstStyle>
          <a:p>
            <a:pPr/>
            <a:r>
              <a:t>La politique top-k priorise les meilleurs scores, même s’ils sont proches de 0,5</a:t>
            </a:r>
          </a:p>
        </p:txBody>
      </p:sp>
      <p:sp>
        <p:nvSpPr>
          <p:cNvPr id="417" name="Google Shape;427;p11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33;p12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22" name="Google Shape;434;p12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INTERPRÉTATION</a:t>
            </a:r>
          </a:p>
        </p:txBody>
      </p:sp>
      <p:sp>
        <p:nvSpPr>
          <p:cNvPr id="423" name="Google Shape;435;p12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Le modèle dépend surtout du contexte macro-économique</a:t>
            </a:r>
          </a:p>
        </p:txBody>
      </p:sp>
      <p:sp>
        <p:nvSpPr>
          <p:cNvPr id="424" name="Google Shape;436;p12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Importance par permutation sur le modèle final — baisse de ROC-AUC après mélange</a:t>
            </a:r>
          </a:p>
        </p:txBody>
      </p:sp>
      <p:sp>
        <p:nvSpPr>
          <p:cNvPr id="425" name="Google Shape;437;p12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26" name="Google Shape;438;p12"/>
          <p:cNvSpPr txBox="1"/>
          <p:nvPr/>
        </p:nvSpPr>
        <p:spPr>
          <a:xfrm>
            <a:off x="868679" y="1376979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nr.employed</a:t>
            </a:r>
          </a:p>
        </p:txBody>
      </p:sp>
      <p:sp>
        <p:nvSpPr>
          <p:cNvPr id="427" name="Google Shape;439;p12"/>
          <p:cNvSpPr/>
          <p:nvPr/>
        </p:nvSpPr>
        <p:spPr>
          <a:xfrm>
            <a:off x="2606039" y="1371600"/>
            <a:ext cx="4160522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28" name="Google Shape;440;p12"/>
          <p:cNvSpPr/>
          <p:nvPr/>
        </p:nvSpPr>
        <p:spPr>
          <a:xfrm>
            <a:off x="2606039" y="1371600"/>
            <a:ext cx="3716732" cy="201169"/>
          </a:xfrm>
          <a:prstGeom prst="roundRect">
            <a:avLst>
              <a:gd name="adj" fmla="val 18182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29" name="Google Shape;441;p12"/>
          <p:cNvSpPr txBox="1"/>
          <p:nvPr/>
        </p:nvSpPr>
        <p:spPr>
          <a:xfrm>
            <a:off x="6830568" y="1386123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0,054</a:t>
            </a:r>
          </a:p>
        </p:txBody>
      </p:sp>
      <p:sp>
        <p:nvSpPr>
          <p:cNvPr id="430" name="Google Shape;442;p12"/>
          <p:cNvSpPr txBox="1"/>
          <p:nvPr/>
        </p:nvSpPr>
        <p:spPr>
          <a:xfrm>
            <a:off x="868679" y="1879899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euribor3m</a:t>
            </a:r>
          </a:p>
        </p:txBody>
      </p:sp>
      <p:sp>
        <p:nvSpPr>
          <p:cNvPr id="431" name="Google Shape;443;p12"/>
          <p:cNvSpPr/>
          <p:nvPr/>
        </p:nvSpPr>
        <p:spPr>
          <a:xfrm>
            <a:off x="2606039" y="1874520"/>
            <a:ext cx="4160522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32" name="Google Shape;444;p12"/>
          <p:cNvSpPr/>
          <p:nvPr/>
        </p:nvSpPr>
        <p:spPr>
          <a:xfrm>
            <a:off x="2606039" y="1874520"/>
            <a:ext cx="1525525" cy="201169"/>
          </a:xfrm>
          <a:prstGeom prst="roundRect">
            <a:avLst>
              <a:gd name="adj" fmla="val 18182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33" name="Google Shape;445;p12"/>
          <p:cNvSpPr txBox="1"/>
          <p:nvPr/>
        </p:nvSpPr>
        <p:spPr>
          <a:xfrm>
            <a:off x="6830568" y="1889043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0,022</a:t>
            </a:r>
          </a:p>
        </p:txBody>
      </p:sp>
      <p:sp>
        <p:nvSpPr>
          <p:cNvPr id="434" name="Google Shape;446;p12"/>
          <p:cNvSpPr txBox="1"/>
          <p:nvPr/>
        </p:nvSpPr>
        <p:spPr>
          <a:xfrm>
            <a:off x="868679" y="2382819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cons.conf.idx</a:t>
            </a:r>
          </a:p>
        </p:txBody>
      </p:sp>
      <p:sp>
        <p:nvSpPr>
          <p:cNvPr id="435" name="Google Shape;447;p12"/>
          <p:cNvSpPr/>
          <p:nvPr/>
        </p:nvSpPr>
        <p:spPr>
          <a:xfrm>
            <a:off x="2606039" y="2377439"/>
            <a:ext cx="4160522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36" name="Google Shape;448;p12"/>
          <p:cNvSpPr/>
          <p:nvPr/>
        </p:nvSpPr>
        <p:spPr>
          <a:xfrm>
            <a:off x="2606039" y="2377439"/>
            <a:ext cx="839039" cy="201169"/>
          </a:xfrm>
          <a:prstGeom prst="roundRect">
            <a:avLst>
              <a:gd name="adj" fmla="val 18182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37" name="Google Shape;449;p12"/>
          <p:cNvSpPr txBox="1"/>
          <p:nvPr/>
        </p:nvSpPr>
        <p:spPr>
          <a:xfrm>
            <a:off x="6830568" y="2391963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0,012</a:t>
            </a:r>
          </a:p>
        </p:txBody>
      </p:sp>
      <p:sp>
        <p:nvSpPr>
          <p:cNvPr id="438" name="Google Shape;450;p12"/>
          <p:cNvSpPr txBox="1"/>
          <p:nvPr/>
        </p:nvSpPr>
        <p:spPr>
          <a:xfrm>
            <a:off x="868679" y="2885739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month</a:t>
            </a:r>
          </a:p>
        </p:txBody>
      </p:sp>
      <p:sp>
        <p:nvSpPr>
          <p:cNvPr id="439" name="Google Shape;451;p12"/>
          <p:cNvSpPr/>
          <p:nvPr/>
        </p:nvSpPr>
        <p:spPr>
          <a:xfrm>
            <a:off x="2606039" y="2880360"/>
            <a:ext cx="4160522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40" name="Google Shape;452;p12"/>
          <p:cNvSpPr/>
          <p:nvPr/>
        </p:nvSpPr>
        <p:spPr>
          <a:xfrm>
            <a:off x="2606039" y="2880360"/>
            <a:ext cx="769697" cy="201169"/>
          </a:xfrm>
          <a:prstGeom prst="roundRect">
            <a:avLst>
              <a:gd name="adj" fmla="val 18182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41" name="Google Shape;453;p12"/>
          <p:cNvSpPr txBox="1"/>
          <p:nvPr/>
        </p:nvSpPr>
        <p:spPr>
          <a:xfrm>
            <a:off x="6830568" y="2894883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0,011</a:t>
            </a:r>
          </a:p>
        </p:txBody>
      </p:sp>
      <p:sp>
        <p:nvSpPr>
          <p:cNvPr id="442" name="Google Shape;454;p12"/>
          <p:cNvSpPr txBox="1"/>
          <p:nvPr/>
        </p:nvSpPr>
        <p:spPr>
          <a:xfrm>
            <a:off x="868679" y="3388659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contact</a:t>
            </a:r>
          </a:p>
        </p:txBody>
      </p:sp>
      <p:sp>
        <p:nvSpPr>
          <p:cNvPr id="443" name="Google Shape;455;p12"/>
          <p:cNvSpPr/>
          <p:nvPr/>
        </p:nvSpPr>
        <p:spPr>
          <a:xfrm>
            <a:off x="2606039" y="3383279"/>
            <a:ext cx="4160522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44" name="Google Shape;456;p12"/>
          <p:cNvSpPr/>
          <p:nvPr/>
        </p:nvSpPr>
        <p:spPr>
          <a:xfrm>
            <a:off x="2606039" y="3383279"/>
            <a:ext cx="728092" cy="201169"/>
          </a:xfrm>
          <a:prstGeom prst="roundRect">
            <a:avLst>
              <a:gd name="adj" fmla="val 18182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45" name="Google Shape;457;p12"/>
          <p:cNvSpPr txBox="1"/>
          <p:nvPr/>
        </p:nvSpPr>
        <p:spPr>
          <a:xfrm>
            <a:off x="6830568" y="3397803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0,011</a:t>
            </a:r>
          </a:p>
        </p:txBody>
      </p:sp>
      <p:sp>
        <p:nvSpPr>
          <p:cNvPr id="446" name="Google Shape;458;p12"/>
          <p:cNvSpPr txBox="1"/>
          <p:nvPr/>
        </p:nvSpPr>
        <p:spPr>
          <a:xfrm>
            <a:off x="868679" y="3891579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pdays</a:t>
            </a:r>
          </a:p>
        </p:txBody>
      </p:sp>
      <p:sp>
        <p:nvSpPr>
          <p:cNvPr id="447" name="Google Shape;459;p12"/>
          <p:cNvSpPr/>
          <p:nvPr/>
        </p:nvSpPr>
        <p:spPr>
          <a:xfrm>
            <a:off x="2606039" y="3886200"/>
            <a:ext cx="4160522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48" name="Google Shape;460;p12"/>
          <p:cNvSpPr/>
          <p:nvPr/>
        </p:nvSpPr>
        <p:spPr>
          <a:xfrm>
            <a:off x="2606039" y="3886200"/>
            <a:ext cx="318974" cy="201169"/>
          </a:xfrm>
          <a:prstGeom prst="roundRect">
            <a:avLst>
              <a:gd name="adj" fmla="val 18182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49" name="Google Shape;461;p12"/>
          <p:cNvSpPr txBox="1"/>
          <p:nvPr/>
        </p:nvSpPr>
        <p:spPr>
          <a:xfrm>
            <a:off x="6830568" y="3900723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0,005</a:t>
            </a:r>
          </a:p>
        </p:txBody>
      </p:sp>
      <p:sp>
        <p:nvSpPr>
          <p:cNvPr id="450" name="Google Shape;462;p12"/>
          <p:cNvSpPr txBox="1"/>
          <p:nvPr/>
        </p:nvSpPr>
        <p:spPr>
          <a:xfrm>
            <a:off x="868679" y="4394499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poutcome</a:t>
            </a:r>
          </a:p>
        </p:txBody>
      </p:sp>
      <p:sp>
        <p:nvSpPr>
          <p:cNvPr id="451" name="Google Shape;463;p12"/>
          <p:cNvSpPr/>
          <p:nvPr/>
        </p:nvSpPr>
        <p:spPr>
          <a:xfrm>
            <a:off x="2606039" y="4389120"/>
            <a:ext cx="4160522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52" name="Google Shape;464;p12"/>
          <p:cNvSpPr/>
          <p:nvPr/>
        </p:nvSpPr>
        <p:spPr>
          <a:xfrm>
            <a:off x="2606039" y="4389120"/>
            <a:ext cx="291237" cy="201169"/>
          </a:xfrm>
          <a:prstGeom prst="roundRect">
            <a:avLst>
              <a:gd name="adj" fmla="val 18182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53" name="Google Shape;465;p12"/>
          <p:cNvSpPr txBox="1"/>
          <p:nvPr/>
        </p:nvSpPr>
        <p:spPr>
          <a:xfrm>
            <a:off x="6830568" y="4403643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0,004</a:t>
            </a:r>
          </a:p>
        </p:txBody>
      </p:sp>
      <p:sp>
        <p:nvSpPr>
          <p:cNvPr id="454" name="Google Shape;466;p12"/>
          <p:cNvSpPr txBox="1"/>
          <p:nvPr/>
        </p:nvSpPr>
        <p:spPr>
          <a:xfrm>
            <a:off x="868679" y="4897419"/>
            <a:ext cx="164592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emp.var.rate</a:t>
            </a:r>
          </a:p>
        </p:txBody>
      </p:sp>
      <p:sp>
        <p:nvSpPr>
          <p:cNvPr id="455" name="Google Shape;467;p12"/>
          <p:cNvSpPr/>
          <p:nvPr/>
        </p:nvSpPr>
        <p:spPr>
          <a:xfrm>
            <a:off x="2606039" y="4892040"/>
            <a:ext cx="4160522" cy="201169"/>
          </a:xfrm>
          <a:prstGeom prst="roundRect">
            <a:avLst>
              <a:gd name="adj" fmla="val 1818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56" name="Google Shape;468;p12"/>
          <p:cNvSpPr/>
          <p:nvPr/>
        </p:nvSpPr>
        <p:spPr>
          <a:xfrm>
            <a:off x="2606039" y="4892040"/>
            <a:ext cx="235764" cy="201169"/>
          </a:xfrm>
          <a:prstGeom prst="roundRect">
            <a:avLst>
              <a:gd name="adj" fmla="val 18182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57" name="Google Shape;469;p12"/>
          <p:cNvSpPr txBox="1"/>
          <p:nvPr/>
        </p:nvSpPr>
        <p:spPr>
          <a:xfrm>
            <a:off x="6830568" y="4906563"/>
            <a:ext cx="5029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0,003</a:t>
            </a:r>
          </a:p>
        </p:txBody>
      </p:sp>
      <p:sp>
        <p:nvSpPr>
          <p:cNvPr id="458" name="Google Shape;470;p12"/>
          <p:cNvSpPr/>
          <p:nvPr/>
        </p:nvSpPr>
        <p:spPr>
          <a:xfrm>
            <a:off x="7818119" y="1325880"/>
            <a:ext cx="3474721" cy="4251960"/>
          </a:xfrm>
          <a:prstGeom prst="roundRect">
            <a:avLst>
              <a:gd name="adj" fmla="val 2105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59" name="Google Shape;471;p12"/>
          <p:cNvSpPr txBox="1"/>
          <p:nvPr/>
        </p:nvSpPr>
        <p:spPr>
          <a:xfrm>
            <a:off x="8138159" y="1699189"/>
            <a:ext cx="219456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800">
                <a:solidFill>
                  <a:srgbClr val="F8FAFC"/>
                </a:solidFill>
              </a:defRPr>
            </a:lvl1pPr>
          </a:lstStyle>
          <a:p>
            <a:pPr/>
            <a:r>
              <a:t>Lecture prudente</a:t>
            </a:r>
          </a:p>
        </p:txBody>
      </p:sp>
      <p:sp>
        <p:nvSpPr>
          <p:cNvPr id="460" name="Google Shape;472;p12"/>
          <p:cNvSpPr txBox="1"/>
          <p:nvPr/>
        </p:nvSpPr>
        <p:spPr>
          <a:xfrm>
            <a:off x="8138159" y="2240279"/>
            <a:ext cx="2560321" cy="2331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Importance ≠ causalité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Les variables macro-éco sont corrélées entre elles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Le modèle n’utilise plus directement age / job / marital / education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Un biais peut néanmoins passer par des variables corrélées</a:t>
            </a:r>
          </a:p>
        </p:txBody>
      </p:sp>
      <p:sp>
        <p:nvSpPr>
          <p:cNvPr id="461" name="Google Shape;473;p12"/>
          <p:cNvSpPr txBox="1"/>
          <p:nvPr/>
        </p:nvSpPr>
        <p:spPr>
          <a:xfrm>
            <a:off x="8138159" y="4892040"/>
            <a:ext cx="256032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>
                <a:solidFill>
                  <a:srgbClr val="42E8C6"/>
                </a:solidFill>
              </a:defRPr>
            </a:lvl1pPr>
          </a:lstStyle>
          <a:p>
            <a:pPr/>
            <a:r>
              <a:t>→ D’où l’audit par sous-groupes après prédiction</a:t>
            </a:r>
          </a:p>
        </p:txBody>
      </p:sp>
      <p:sp>
        <p:nvSpPr>
          <p:cNvPr id="462" name="Google Shape;474;p12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80;p13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FF7C9D"/>
          </a:solidFill>
          <a:ln w="12700">
            <a:solidFill>
              <a:srgbClr val="FF7C9D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67" name="Google Shape;481;p13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ÉQUITÉ</a:t>
            </a:r>
          </a:p>
        </p:txBody>
      </p:sp>
      <p:sp>
        <p:nvSpPr>
          <p:cNvPr id="468" name="Google Shape;482;p13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Retirer `age` ne retire pas son effet potentiel</a:t>
            </a:r>
          </a:p>
        </p:txBody>
      </p:sp>
      <p:sp>
        <p:nvSpPr>
          <p:cNvPr id="469" name="Google Shape;483;p13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Comparer le taux de sélection au taux réel de souscription permet de voir l’amplification</a:t>
            </a:r>
          </a:p>
        </p:txBody>
      </p:sp>
      <p:sp>
        <p:nvSpPr>
          <p:cNvPr id="470" name="Google Shape;484;p13"/>
          <p:cNvSpPr/>
          <p:nvPr/>
        </p:nvSpPr>
        <p:spPr>
          <a:xfrm>
            <a:off x="978364" y="1771870"/>
            <a:ext cx="100590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71" name="Google Shape;485;p13"/>
          <p:cNvSpPr txBox="1"/>
          <p:nvPr/>
        </p:nvSpPr>
        <p:spPr>
          <a:xfrm>
            <a:off x="1066755" y="1518555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42E8C6"/>
                </a:solidFill>
              </a:defRPr>
            </a:lvl1pPr>
          </a:lstStyle>
          <a:p>
            <a:pPr/>
            <a:r>
              <a:t>Taux de sélection</a:t>
            </a:r>
          </a:p>
        </p:txBody>
      </p:sp>
      <p:sp>
        <p:nvSpPr>
          <p:cNvPr id="472" name="Google Shape;486;p13"/>
          <p:cNvSpPr txBox="1"/>
          <p:nvPr/>
        </p:nvSpPr>
        <p:spPr>
          <a:xfrm>
            <a:off x="2438348" y="1518543"/>
            <a:ext cx="1645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5C7FF"/>
                </a:solidFill>
              </a:defRPr>
            </a:lvl1pPr>
          </a:lstStyle>
          <a:p>
            <a:pPr/>
            <a:r>
              <a:t>Taux réel de souscription</a:t>
            </a:r>
          </a:p>
        </p:txBody>
      </p:sp>
      <p:sp>
        <p:nvSpPr>
          <p:cNvPr id="473" name="Google Shape;487;p13"/>
          <p:cNvSpPr txBox="1"/>
          <p:nvPr/>
        </p:nvSpPr>
        <p:spPr>
          <a:xfrm>
            <a:off x="868680" y="2456023"/>
            <a:ext cx="640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&lt;30</a:t>
            </a:r>
          </a:p>
        </p:txBody>
      </p:sp>
      <p:sp>
        <p:nvSpPr>
          <p:cNvPr id="474" name="Google Shape;488;p13"/>
          <p:cNvSpPr/>
          <p:nvPr/>
        </p:nvSpPr>
        <p:spPr>
          <a:xfrm>
            <a:off x="1600200" y="2395720"/>
            <a:ext cx="3657600" cy="164701"/>
          </a:xfrm>
          <a:prstGeom prst="roundRect">
            <a:avLst>
              <a:gd name="adj" fmla="val 2222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75" name="Google Shape;489;p13"/>
          <p:cNvSpPr/>
          <p:nvPr/>
        </p:nvSpPr>
        <p:spPr>
          <a:xfrm>
            <a:off x="1600200" y="2395720"/>
            <a:ext cx="932701" cy="73201"/>
          </a:xfrm>
          <a:prstGeom prst="roundRect">
            <a:avLst>
              <a:gd name="adj" fmla="val 37500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76" name="Google Shape;490;p13"/>
          <p:cNvSpPr/>
          <p:nvPr/>
        </p:nvSpPr>
        <p:spPr>
          <a:xfrm>
            <a:off x="1600200" y="2487160"/>
            <a:ext cx="926701" cy="73201"/>
          </a:xfrm>
          <a:prstGeom prst="roundRect">
            <a:avLst>
              <a:gd name="adj" fmla="val 37500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77" name="Google Shape;491;p13"/>
          <p:cNvSpPr txBox="1"/>
          <p:nvPr/>
        </p:nvSpPr>
        <p:spPr>
          <a:xfrm>
            <a:off x="5394959" y="2414576"/>
            <a:ext cx="1005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15,3 % / 15,2 %</a:t>
            </a:r>
          </a:p>
        </p:txBody>
      </p:sp>
      <p:sp>
        <p:nvSpPr>
          <p:cNvPr id="478" name="Google Shape;492;p13"/>
          <p:cNvSpPr txBox="1"/>
          <p:nvPr/>
        </p:nvSpPr>
        <p:spPr>
          <a:xfrm>
            <a:off x="868680" y="3114391"/>
            <a:ext cx="640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30–39</a:t>
            </a:r>
          </a:p>
        </p:txBody>
      </p:sp>
      <p:sp>
        <p:nvSpPr>
          <p:cNvPr id="479" name="Google Shape;493;p13"/>
          <p:cNvSpPr/>
          <p:nvPr/>
        </p:nvSpPr>
        <p:spPr>
          <a:xfrm>
            <a:off x="1600200" y="3054088"/>
            <a:ext cx="3657600" cy="164701"/>
          </a:xfrm>
          <a:prstGeom prst="roundRect">
            <a:avLst>
              <a:gd name="adj" fmla="val 2222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80" name="Google Shape;494;p13"/>
          <p:cNvSpPr/>
          <p:nvPr/>
        </p:nvSpPr>
        <p:spPr>
          <a:xfrm>
            <a:off x="1600200" y="3054088"/>
            <a:ext cx="487801" cy="73201"/>
          </a:xfrm>
          <a:prstGeom prst="roundRect">
            <a:avLst>
              <a:gd name="adj" fmla="val 37500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81" name="Google Shape;495;p13"/>
          <p:cNvSpPr/>
          <p:nvPr/>
        </p:nvSpPr>
        <p:spPr>
          <a:xfrm>
            <a:off x="1600200" y="3145527"/>
            <a:ext cx="597301" cy="73201"/>
          </a:xfrm>
          <a:prstGeom prst="roundRect">
            <a:avLst>
              <a:gd name="adj" fmla="val 37500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82" name="Google Shape;496;p13"/>
          <p:cNvSpPr txBox="1"/>
          <p:nvPr/>
        </p:nvSpPr>
        <p:spPr>
          <a:xfrm>
            <a:off x="5394959" y="3072943"/>
            <a:ext cx="1005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8,0 % / 9,8 %</a:t>
            </a:r>
          </a:p>
        </p:txBody>
      </p:sp>
      <p:sp>
        <p:nvSpPr>
          <p:cNvPr id="483" name="Google Shape;497;p13"/>
          <p:cNvSpPr txBox="1"/>
          <p:nvPr/>
        </p:nvSpPr>
        <p:spPr>
          <a:xfrm>
            <a:off x="868680" y="3772759"/>
            <a:ext cx="640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40–49</a:t>
            </a:r>
          </a:p>
        </p:txBody>
      </p:sp>
      <p:sp>
        <p:nvSpPr>
          <p:cNvPr id="484" name="Google Shape;498;p13"/>
          <p:cNvSpPr/>
          <p:nvPr/>
        </p:nvSpPr>
        <p:spPr>
          <a:xfrm>
            <a:off x="1600200" y="3712455"/>
            <a:ext cx="3657600" cy="164701"/>
          </a:xfrm>
          <a:prstGeom prst="roundRect">
            <a:avLst>
              <a:gd name="adj" fmla="val 2222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85" name="Google Shape;499;p13"/>
          <p:cNvSpPr/>
          <p:nvPr/>
        </p:nvSpPr>
        <p:spPr>
          <a:xfrm>
            <a:off x="1600200" y="3712455"/>
            <a:ext cx="384001" cy="73201"/>
          </a:xfrm>
          <a:prstGeom prst="roundRect">
            <a:avLst>
              <a:gd name="adj" fmla="val 37500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86" name="Google Shape;500;p13"/>
          <p:cNvSpPr/>
          <p:nvPr/>
        </p:nvSpPr>
        <p:spPr>
          <a:xfrm>
            <a:off x="1600200" y="3803896"/>
            <a:ext cx="499801" cy="73201"/>
          </a:xfrm>
          <a:prstGeom prst="roundRect">
            <a:avLst>
              <a:gd name="adj" fmla="val 37500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87" name="Google Shape;501;p13"/>
          <p:cNvSpPr txBox="1"/>
          <p:nvPr/>
        </p:nvSpPr>
        <p:spPr>
          <a:xfrm>
            <a:off x="5394959" y="3731311"/>
            <a:ext cx="1005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6,3 % / 8,2 %</a:t>
            </a:r>
          </a:p>
        </p:txBody>
      </p:sp>
      <p:sp>
        <p:nvSpPr>
          <p:cNvPr id="488" name="Google Shape;502;p13"/>
          <p:cNvSpPr txBox="1"/>
          <p:nvPr/>
        </p:nvSpPr>
        <p:spPr>
          <a:xfrm>
            <a:off x="868680" y="4431127"/>
            <a:ext cx="640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50–59</a:t>
            </a:r>
          </a:p>
        </p:txBody>
      </p:sp>
      <p:sp>
        <p:nvSpPr>
          <p:cNvPr id="489" name="Google Shape;503;p13"/>
          <p:cNvSpPr/>
          <p:nvPr/>
        </p:nvSpPr>
        <p:spPr>
          <a:xfrm>
            <a:off x="1600200" y="4370823"/>
            <a:ext cx="3657600" cy="164701"/>
          </a:xfrm>
          <a:prstGeom prst="roundRect">
            <a:avLst>
              <a:gd name="adj" fmla="val 2222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90" name="Google Shape;504;p13"/>
          <p:cNvSpPr/>
          <p:nvPr/>
        </p:nvSpPr>
        <p:spPr>
          <a:xfrm>
            <a:off x="1600200" y="4370823"/>
            <a:ext cx="512100" cy="73201"/>
          </a:xfrm>
          <a:prstGeom prst="roundRect">
            <a:avLst>
              <a:gd name="adj" fmla="val 37500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91" name="Google Shape;505;p13"/>
          <p:cNvSpPr/>
          <p:nvPr/>
        </p:nvSpPr>
        <p:spPr>
          <a:xfrm>
            <a:off x="1600200" y="4462264"/>
            <a:ext cx="652201" cy="73201"/>
          </a:xfrm>
          <a:prstGeom prst="roundRect">
            <a:avLst>
              <a:gd name="adj" fmla="val 37500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92" name="Google Shape;506;p13"/>
          <p:cNvSpPr txBox="1"/>
          <p:nvPr/>
        </p:nvSpPr>
        <p:spPr>
          <a:xfrm>
            <a:off x="5394959" y="4389679"/>
            <a:ext cx="1005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8,4 % / 10,7 %</a:t>
            </a:r>
          </a:p>
        </p:txBody>
      </p:sp>
      <p:sp>
        <p:nvSpPr>
          <p:cNvPr id="493" name="Google Shape;507;p13"/>
          <p:cNvSpPr txBox="1"/>
          <p:nvPr/>
        </p:nvSpPr>
        <p:spPr>
          <a:xfrm>
            <a:off x="868680" y="5089495"/>
            <a:ext cx="640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60+</a:t>
            </a:r>
          </a:p>
        </p:txBody>
      </p:sp>
      <p:sp>
        <p:nvSpPr>
          <p:cNvPr id="494" name="Google Shape;508;p13"/>
          <p:cNvSpPr/>
          <p:nvPr/>
        </p:nvSpPr>
        <p:spPr>
          <a:xfrm>
            <a:off x="1600200" y="5029191"/>
            <a:ext cx="3657600" cy="164701"/>
          </a:xfrm>
          <a:prstGeom prst="roundRect">
            <a:avLst>
              <a:gd name="adj" fmla="val 22222"/>
            </a:avLst>
          </a:prstGeom>
          <a:solidFill>
            <a:srgbClr val="162033"/>
          </a:solidFill>
          <a:ln w="12700">
            <a:solidFill>
              <a:srgbClr val="162033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95" name="Google Shape;509;p13"/>
          <p:cNvSpPr/>
          <p:nvPr/>
        </p:nvSpPr>
        <p:spPr>
          <a:xfrm>
            <a:off x="1600200" y="5029191"/>
            <a:ext cx="3322200" cy="73201"/>
          </a:xfrm>
          <a:prstGeom prst="roundRect">
            <a:avLst>
              <a:gd name="adj" fmla="val 37500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96" name="Google Shape;510;p13"/>
          <p:cNvSpPr/>
          <p:nvPr/>
        </p:nvSpPr>
        <p:spPr>
          <a:xfrm>
            <a:off x="1600200" y="5120632"/>
            <a:ext cx="2773801" cy="73201"/>
          </a:xfrm>
          <a:prstGeom prst="roundRect">
            <a:avLst>
              <a:gd name="adj" fmla="val 37500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97" name="Google Shape;511;p13"/>
          <p:cNvSpPr txBox="1"/>
          <p:nvPr/>
        </p:nvSpPr>
        <p:spPr>
          <a:xfrm>
            <a:off x="5394959" y="5048047"/>
            <a:ext cx="1005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54,5 % / 45,5 %</a:t>
            </a:r>
          </a:p>
        </p:txBody>
      </p:sp>
      <p:sp>
        <p:nvSpPr>
          <p:cNvPr id="498" name="Google Shape;512;p13"/>
          <p:cNvSpPr/>
          <p:nvPr/>
        </p:nvSpPr>
        <p:spPr>
          <a:xfrm>
            <a:off x="6812280" y="1325880"/>
            <a:ext cx="4434841" cy="4343401"/>
          </a:xfrm>
          <a:prstGeom prst="roundRect">
            <a:avLst>
              <a:gd name="adj" fmla="val 1684"/>
            </a:avLst>
          </a:prstGeom>
          <a:solidFill>
            <a:srgbClr val="101827"/>
          </a:solidFill>
          <a:ln w="19050">
            <a:solidFill>
              <a:srgbClr val="FF7C9D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99" name="Google Shape;513;p13"/>
          <p:cNvSpPr txBox="1"/>
          <p:nvPr/>
        </p:nvSpPr>
        <p:spPr>
          <a:xfrm>
            <a:off x="7150607" y="1674758"/>
            <a:ext cx="1920241" cy="271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900">
                <a:solidFill>
                  <a:srgbClr val="FF7C9D"/>
                </a:solidFill>
              </a:defRPr>
            </a:lvl1pPr>
          </a:lstStyle>
          <a:p>
            <a:pPr/>
            <a:r>
              <a:t>Cas des 60+</a:t>
            </a:r>
          </a:p>
        </p:txBody>
      </p:sp>
      <p:sp>
        <p:nvSpPr>
          <p:cNvPr id="500" name="Google Shape;514;p13"/>
          <p:cNvSpPr/>
          <p:nvPr/>
        </p:nvSpPr>
        <p:spPr>
          <a:xfrm>
            <a:off x="7150607" y="2240279"/>
            <a:ext cx="1554481" cy="1143001"/>
          </a:xfrm>
          <a:prstGeom prst="roundRect">
            <a:avLst>
              <a:gd name="adj" fmla="val 6400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01" name="Google Shape;515;p13"/>
          <p:cNvSpPr/>
          <p:nvPr/>
        </p:nvSpPr>
        <p:spPr>
          <a:xfrm>
            <a:off x="7150607" y="2240279"/>
            <a:ext cx="54865" cy="1143001"/>
          </a:xfrm>
          <a:prstGeom prst="rect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02" name="Google Shape;516;p13"/>
          <p:cNvSpPr txBox="1"/>
          <p:nvPr/>
        </p:nvSpPr>
        <p:spPr>
          <a:xfrm>
            <a:off x="7351776" y="2423967"/>
            <a:ext cx="12344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Souscription</a:t>
            </a:r>
          </a:p>
        </p:txBody>
      </p:sp>
      <p:sp>
        <p:nvSpPr>
          <p:cNvPr id="503" name="Google Shape;517;p13"/>
          <p:cNvSpPr txBox="1"/>
          <p:nvPr/>
        </p:nvSpPr>
        <p:spPr>
          <a:xfrm>
            <a:off x="7351776" y="2719691"/>
            <a:ext cx="1234441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45,5 %</a:t>
            </a:r>
          </a:p>
        </p:txBody>
      </p:sp>
      <p:sp>
        <p:nvSpPr>
          <p:cNvPr id="504" name="Google Shape;518;p13"/>
          <p:cNvSpPr/>
          <p:nvPr/>
        </p:nvSpPr>
        <p:spPr>
          <a:xfrm>
            <a:off x="8942831" y="2240279"/>
            <a:ext cx="1554481" cy="1143001"/>
          </a:xfrm>
          <a:prstGeom prst="roundRect">
            <a:avLst>
              <a:gd name="adj" fmla="val 6400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05" name="Google Shape;519;p13"/>
          <p:cNvSpPr/>
          <p:nvPr/>
        </p:nvSpPr>
        <p:spPr>
          <a:xfrm>
            <a:off x="8942831" y="2240279"/>
            <a:ext cx="54865" cy="1143001"/>
          </a:xfrm>
          <a:prstGeom prst="rect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06" name="Google Shape;520;p13"/>
          <p:cNvSpPr txBox="1"/>
          <p:nvPr/>
        </p:nvSpPr>
        <p:spPr>
          <a:xfrm>
            <a:off x="9143999" y="2423967"/>
            <a:ext cx="123444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Sélection</a:t>
            </a:r>
          </a:p>
        </p:txBody>
      </p:sp>
      <p:sp>
        <p:nvSpPr>
          <p:cNvPr id="507" name="Google Shape;521;p13"/>
          <p:cNvSpPr txBox="1"/>
          <p:nvPr/>
        </p:nvSpPr>
        <p:spPr>
          <a:xfrm>
            <a:off x="9143999" y="2719691"/>
            <a:ext cx="1234442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54,5 %</a:t>
            </a:r>
          </a:p>
        </p:txBody>
      </p:sp>
      <p:sp>
        <p:nvSpPr>
          <p:cNvPr id="508" name="Google Shape;522;p13"/>
          <p:cNvSpPr txBox="1"/>
          <p:nvPr/>
        </p:nvSpPr>
        <p:spPr>
          <a:xfrm>
            <a:off x="7818119" y="3717819"/>
            <a:ext cx="2011680" cy="382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700">
                <a:solidFill>
                  <a:srgbClr val="FF7C9D"/>
                </a:solidFill>
              </a:defRPr>
            </a:lvl1pPr>
          </a:lstStyle>
          <a:p>
            <a:pPr/>
            <a:r>
              <a:t>+9 points</a:t>
            </a:r>
          </a:p>
        </p:txBody>
      </p:sp>
      <p:sp>
        <p:nvSpPr>
          <p:cNvPr id="509" name="Google Shape;523;p13"/>
          <p:cNvSpPr txBox="1"/>
          <p:nvPr/>
        </p:nvSpPr>
        <p:spPr>
          <a:xfrm>
            <a:off x="7150607" y="4343399"/>
            <a:ext cx="3383281" cy="777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700">
                <a:solidFill>
                  <a:srgbClr val="F8FAFC"/>
                </a:solidFill>
              </a:defRPr>
            </a:lvl1pPr>
          </a:lstStyle>
          <a:p>
            <a:pPr/>
            <a:r>
              <a:t>La politique accentue la concentration, même sans utiliser directement l’âge</a:t>
            </a:r>
          </a:p>
        </p:txBody>
      </p:sp>
      <p:sp>
        <p:nvSpPr>
          <p:cNvPr id="510" name="Google Shape;524;p13"/>
          <p:cNvSpPr txBox="1"/>
          <p:nvPr/>
        </p:nvSpPr>
        <p:spPr>
          <a:xfrm>
            <a:off x="7150607" y="5299755"/>
            <a:ext cx="338328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EA0B8"/>
                </a:solidFill>
              </a:defRPr>
            </a:lvl1pPr>
          </a:lstStyle>
          <a:p>
            <a:pPr/>
            <a:r>
              <a:t>FNR 60+ : 57,3 % • FPR 60+ : 12,8 %</a:t>
            </a:r>
          </a:p>
        </p:txBody>
      </p:sp>
      <p:sp>
        <p:nvSpPr>
          <p:cNvPr id="511" name="Google Shape;525;p13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12" name="Google Shape;526;p13"/>
          <p:cNvSpPr/>
          <p:nvPr/>
        </p:nvSpPr>
        <p:spPr>
          <a:xfrm>
            <a:off x="2532888" y="1779896"/>
            <a:ext cx="1005901" cy="1"/>
          </a:xfrm>
          <a:prstGeom prst="line">
            <a:avLst/>
          </a:prstGeom>
          <a:ln w="30475">
            <a:solidFill>
              <a:srgbClr val="55C7FF"/>
            </a:solidFill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32;p14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FF7C9D"/>
          </a:solidFill>
          <a:ln w="12700">
            <a:solidFill>
              <a:srgbClr val="FF7C9D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17" name="Google Shape;533;p14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GOUVERNANCE</a:t>
            </a:r>
          </a:p>
        </p:txBody>
      </p:sp>
      <p:sp>
        <p:nvSpPr>
          <p:cNvPr id="518" name="Google Shape;534;p14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Ce que je fais de ce constat</a:t>
            </a:r>
          </a:p>
        </p:txBody>
      </p:sp>
      <p:sp>
        <p:nvSpPr>
          <p:cNvPr id="519" name="Google Shape;535;p14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Le modèle ne suffit pas : la politique de campagne doit contenir ses propres garde-fous</a:t>
            </a:r>
          </a:p>
        </p:txBody>
      </p:sp>
      <p:sp>
        <p:nvSpPr>
          <p:cNvPr id="520" name="Google Shape;536;p14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21" name="Google Shape;537;p14"/>
          <p:cNvSpPr/>
          <p:nvPr/>
        </p:nvSpPr>
        <p:spPr>
          <a:xfrm>
            <a:off x="777240" y="1417319"/>
            <a:ext cx="5166360" cy="1874522"/>
          </a:xfrm>
          <a:prstGeom prst="roundRect">
            <a:avLst>
              <a:gd name="adj" fmla="val 3902"/>
            </a:avLst>
          </a:prstGeom>
          <a:solidFill>
            <a:srgbClr val="101827"/>
          </a:solidFill>
          <a:ln w="15225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22" name="Google Shape;538;p14"/>
          <p:cNvSpPr/>
          <p:nvPr/>
        </p:nvSpPr>
        <p:spPr>
          <a:xfrm>
            <a:off x="1033271" y="1737360"/>
            <a:ext cx="502922" cy="502921"/>
          </a:xfrm>
          <a:prstGeom prst="ellipse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23" name="Google Shape;539;p14"/>
          <p:cNvSpPr txBox="1"/>
          <p:nvPr/>
        </p:nvSpPr>
        <p:spPr>
          <a:xfrm>
            <a:off x="1033272" y="1845978"/>
            <a:ext cx="50292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80C18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24" name="Google Shape;540;p14"/>
          <p:cNvSpPr txBox="1"/>
          <p:nvPr/>
        </p:nvSpPr>
        <p:spPr>
          <a:xfrm>
            <a:off x="1691639" y="1708333"/>
            <a:ext cx="21031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800">
                <a:solidFill>
                  <a:srgbClr val="F8FAFC"/>
                </a:solidFill>
              </a:defRPr>
            </a:lvl1pPr>
          </a:lstStyle>
          <a:p>
            <a:pPr/>
            <a:r>
              <a:t>Minimisation</a:t>
            </a:r>
          </a:p>
        </p:txBody>
      </p:sp>
      <p:sp>
        <p:nvSpPr>
          <p:cNvPr id="525" name="Google Shape;541;p14"/>
          <p:cNvSpPr txBox="1"/>
          <p:nvPr/>
        </p:nvSpPr>
        <p:spPr>
          <a:xfrm>
            <a:off x="1691639" y="2194560"/>
            <a:ext cx="3749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DCE5F2"/>
                </a:solidFill>
              </a:defRPr>
            </a:lvl1pPr>
          </a:lstStyle>
          <a:p>
            <a:pPr/>
            <a:r>
              <a:t>Conserver age, job, marital et education hors du modèle final</a:t>
            </a:r>
          </a:p>
        </p:txBody>
      </p:sp>
      <p:sp>
        <p:nvSpPr>
          <p:cNvPr id="526" name="Google Shape;542;p14"/>
          <p:cNvSpPr/>
          <p:nvPr/>
        </p:nvSpPr>
        <p:spPr>
          <a:xfrm>
            <a:off x="6217920" y="1417319"/>
            <a:ext cx="5166360" cy="1874522"/>
          </a:xfrm>
          <a:prstGeom prst="roundRect">
            <a:avLst>
              <a:gd name="adj" fmla="val 3902"/>
            </a:avLst>
          </a:prstGeom>
          <a:solidFill>
            <a:srgbClr val="101827"/>
          </a:solidFill>
          <a:ln w="15225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27" name="Google Shape;543;p14"/>
          <p:cNvSpPr/>
          <p:nvPr/>
        </p:nvSpPr>
        <p:spPr>
          <a:xfrm>
            <a:off x="6473952" y="1737360"/>
            <a:ext cx="502921" cy="502921"/>
          </a:xfrm>
          <a:prstGeom prst="ellipse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28" name="Google Shape;544;p14"/>
          <p:cNvSpPr txBox="1"/>
          <p:nvPr/>
        </p:nvSpPr>
        <p:spPr>
          <a:xfrm>
            <a:off x="6473952" y="1845978"/>
            <a:ext cx="50292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80C18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529" name="Google Shape;545;p14"/>
          <p:cNvSpPr txBox="1"/>
          <p:nvPr/>
        </p:nvSpPr>
        <p:spPr>
          <a:xfrm>
            <a:off x="7132319" y="1708333"/>
            <a:ext cx="21031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800">
                <a:solidFill>
                  <a:srgbClr val="F8FAFC"/>
                </a:solidFill>
              </a:defRPr>
            </a:lvl1pPr>
          </a:lstStyle>
          <a:p>
            <a:pPr/>
            <a:r>
              <a:t>Audit</a:t>
            </a:r>
          </a:p>
        </p:txBody>
      </p:sp>
      <p:sp>
        <p:nvSpPr>
          <p:cNvPr id="530" name="Google Shape;546;p14"/>
          <p:cNvSpPr txBox="1"/>
          <p:nvPr/>
        </p:nvSpPr>
        <p:spPr>
          <a:xfrm>
            <a:off x="7132319" y="2194560"/>
            <a:ext cx="374904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DCE5F2"/>
                </a:solidFill>
              </a:defRPr>
            </a:lvl1pPr>
          </a:lstStyle>
          <a:p>
            <a:pPr/>
            <a:r>
              <a:t>Suivre taux de sélection, FPR et FNR par sous-groupe</a:t>
            </a:r>
          </a:p>
        </p:txBody>
      </p:sp>
      <p:sp>
        <p:nvSpPr>
          <p:cNvPr id="531" name="Google Shape;547;p14"/>
          <p:cNvSpPr/>
          <p:nvPr/>
        </p:nvSpPr>
        <p:spPr>
          <a:xfrm>
            <a:off x="777240" y="3657600"/>
            <a:ext cx="5166360" cy="1874521"/>
          </a:xfrm>
          <a:prstGeom prst="roundRect">
            <a:avLst>
              <a:gd name="adj" fmla="val 3902"/>
            </a:avLst>
          </a:prstGeom>
          <a:solidFill>
            <a:srgbClr val="101827"/>
          </a:solidFill>
          <a:ln w="15225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32" name="Google Shape;548;p14"/>
          <p:cNvSpPr/>
          <p:nvPr/>
        </p:nvSpPr>
        <p:spPr>
          <a:xfrm>
            <a:off x="1033271" y="3977640"/>
            <a:ext cx="502922" cy="502921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33" name="Google Shape;549;p14"/>
          <p:cNvSpPr txBox="1"/>
          <p:nvPr/>
        </p:nvSpPr>
        <p:spPr>
          <a:xfrm>
            <a:off x="1033272" y="4086258"/>
            <a:ext cx="50292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80C18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534" name="Google Shape;550;p14"/>
          <p:cNvSpPr txBox="1"/>
          <p:nvPr/>
        </p:nvSpPr>
        <p:spPr>
          <a:xfrm>
            <a:off x="1691639" y="3948613"/>
            <a:ext cx="21031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800">
                <a:solidFill>
                  <a:srgbClr val="F8FAFC"/>
                </a:solidFill>
              </a:defRPr>
            </a:lvl1pPr>
          </a:lstStyle>
          <a:p>
            <a:pPr/>
            <a:r>
              <a:t>Règles métier</a:t>
            </a:r>
          </a:p>
        </p:txBody>
      </p:sp>
      <p:sp>
        <p:nvSpPr>
          <p:cNvPr id="535" name="Google Shape;551;p14"/>
          <p:cNvSpPr txBox="1"/>
          <p:nvPr/>
        </p:nvSpPr>
        <p:spPr>
          <a:xfrm>
            <a:off x="1691639" y="4434840"/>
            <a:ext cx="3749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DCE5F2"/>
                </a:solidFill>
              </a:defRPr>
            </a:lvl1pPr>
          </a:lstStyle>
          <a:p>
            <a:pPr/>
            <a:r>
              <a:t>Limiter la fréquence des sollicitations indépendamment du score</a:t>
            </a:r>
          </a:p>
        </p:txBody>
      </p:sp>
      <p:sp>
        <p:nvSpPr>
          <p:cNvPr id="536" name="Google Shape;552;p14"/>
          <p:cNvSpPr/>
          <p:nvPr/>
        </p:nvSpPr>
        <p:spPr>
          <a:xfrm>
            <a:off x="6217920" y="3657600"/>
            <a:ext cx="5166360" cy="1874521"/>
          </a:xfrm>
          <a:prstGeom prst="roundRect">
            <a:avLst>
              <a:gd name="adj" fmla="val 3902"/>
            </a:avLst>
          </a:prstGeom>
          <a:solidFill>
            <a:srgbClr val="101827"/>
          </a:solidFill>
          <a:ln w="15225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37" name="Google Shape;553;p14"/>
          <p:cNvSpPr/>
          <p:nvPr/>
        </p:nvSpPr>
        <p:spPr>
          <a:xfrm>
            <a:off x="6473952" y="3977640"/>
            <a:ext cx="502921" cy="502921"/>
          </a:xfrm>
          <a:prstGeom prst="ellipse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38" name="Google Shape;554;p14"/>
          <p:cNvSpPr txBox="1"/>
          <p:nvPr/>
        </p:nvSpPr>
        <p:spPr>
          <a:xfrm>
            <a:off x="6473952" y="4086258"/>
            <a:ext cx="50292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80C18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39" name="Google Shape;555;p14"/>
          <p:cNvSpPr txBox="1"/>
          <p:nvPr/>
        </p:nvSpPr>
        <p:spPr>
          <a:xfrm>
            <a:off x="7132319" y="3948613"/>
            <a:ext cx="210312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800">
                <a:solidFill>
                  <a:srgbClr val="F8FAFC"/>
                </a:solidFill>
              </a:defRPr>
            </a:lvl1pPr>
          </a:lstStyle>
          <a:p>
            <a:pPr/>
            <a:r>
              <a:t>Revue humaine</a:t>
            </a:r>
          </a:p>
        </p:txBody>
      </p:sp>
      <p:sp>
        <p:nvSpPr>
          <p:cNvPr id="540" name="Google Shape;556;p14"/>
          <p:cNvSpPr txBox="1"/>
          <p:nvPr/>
        </p:nvSpPr>
        <p:spPr>
          <a:xfrm>
            <a:off x="7132319" y="4434840"/>
            <a:ext cx="3749041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300">
                <a:solidFill>
                  <a:srgbClr val="DCE5F2"/>
                </a:solidFill>
              </a:defRPr>
            </a:lvl1pPr>
          </a:lstStyle>
          <a:p>
            <a:pPr/>
            <a:r>
              <a:t>Déclencher une analyse si les écarts s’aggravent</a:t>
            </a:r>
          </a:p>
        </p:txBody>
      </p:sp>
      <p:sp>
        <p:nvSpPr>
          <p:cNvPr id="541" name="Google Shape;557;p14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63;p15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46" name="Google Shape;564;p15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CONFORMITÉ</a:t>
            </a:r>
          </a:p>
        </p:txBody>
      </p:sp>
      <p:sp>
        <p:nvSpPr>
          <p:cNvPr id="547" name="Google Shape;565;p15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RGPD et AI Act : qualifier l’usage, pas seulement le modèle</a:t>
            </a:r>
          </a:p>
        </p:txBody>
      </p:sp>
      <p:sp>
        <p:nvSpPr>
          <p:cNvPr id="548" name="Google Shape;566;p15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La finalité du système détermine les obligations applicables</a:t>
            </a:r>
          </a:p>
        </p:txBody>
      </p:sp>
      <p:sp>
        <p:nvSpPr>
          <p:cNvPr id="549" name="Google Shape;567;p15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0" name="Google Shape;568;p15"/>
          <p:cNvSpPr/>
          <p:nvPr/>
        </p:nvSpPr>
        <p:spPr>
          <a:xfrm>
            <a:off x="731519" y="1371600"/>
            <a:ext cx="5212081" cy="4526280"/>
          </a:xfrm>
          <a:prstGeom prst="roundRect">
            <a:avLst>
              <a:gd name="adj" fmla="val 1616"/>
            </a:avLst>
          </a:prstGeom>
          <a:solidFill>
            <a:srgbClr val="101827"/>
          </a:solidFill>
          <a:ln w="15225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51" name="Google Shape;569;p15"/>
          <p:cNvSpPr txBox="1"/>
          <p:nvPr/>
        </p:nvSpPr>
        <p:spPr>
          <a:xfrm>
            <a:off x="1051560" y="1684987"/>
            <a:ext cx="1371601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B18CFF"/>
                </a:solidFill>
              </a:defRPr>
            </a:lvl1pPr>
          </a:lstStyle>
          <a:p>
            <a:pPr/>
            <a:r>
              <a:t>RGPD</a:t>
            </a:r>
          </a:p>
        </p:txBody>
      </p:sp>
      <p:sp>
        <p:nvSpPr>
          <p:cNvPr id="552" name="Google Shape;570;p15"/>
          <p:cNvSpPr txBox="1"/>
          <p:nvPr/>
        </p:nvSpPr>
        <p:spPr>
          <a:xfrm>
            <a:off x="1051559" y="2240279"/>
            <a:ext cx="4434842" cy="26517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Données personnelles dès qu’elles sont rattachables à un client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Pas de catégorie particulière art. 9 identifiée dans le dataset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Intérêt légitime envisageable pour la prospection, à valider juridiquement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Information, droit d’opposition, minimisation, finalité et durée de conservation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Les scores eux-mêmes deviennent des données personnelles s’ils sont associés au client</a:t>
            </a:r>
          </a:p>
        </p:txBody>
      </p:sp>
      <p:sp>
        <p:nvSpPr>
          <p:cNvPr id="553" name="Google Shape;571;p15"/>
          <p:cNvSpPr/>
          <p:nvPr/>
        </p:nvSpPr>
        <p:spPr>
          <a:xfrm>
            <a:off x="6263640" y="1371600"/>
            <a:ext cx="5212081" cy="4526280"/>
          </a:xfrm>
          <a:prstGeom prst="roundRect">
            <a:avLst>
              <a:gd name="adj" fmla="val 1616"/>
            </a:avLst>
          </a:prstGeom>
          <a:solidFill>
            <a:srgbClr val="101827"/>
          </a:solidFill>
          <a:ln w="15225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54" name="Google Shape;572;p15"/>
          <p:cNvSpPr txBox="1"/>
          <p:nvPr/>
        </p:nvSpPr>
        <p:spPr>
          <a:xfrm>
            <a:off x="6583680" y="1684987"/>
            <a:ext cx="1554481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300">
                <a:solidFill>
                  <a:srgbClr val="42E8C6"/>
                </a:solidFill>
              </a:defRPr>
            </a:lvl1pPr>
          </a:lstStyle>
          <a:p>
            <a:pPr/>
            <a:r>
              <a:t>AI Act</a:t>
            </a:r>
          </a:p>
        </p:txBody>
      </p:sp>
      <p:sp>
        <p:nvSpPr>
          <p:cNvPr id="555" name="Google Shape;573;p15"/>
          <p:cNvSpPr txBox="1"/>
          <p:nvPr/>
        </p:nvSpPr>
        <p:spPr>
          <a:xfrm>
            <a:off x="6583680" y="2289462"/>
            <a:ext cx="201168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8FAFC"/>
                </a:solidFill>
              </a:defRPr>
            </a:lvl1pPr>
          </a:lstStyle>
          <a:p>
            <a:pPr/>
            <a:r>
              <a:t>Dans cet usage précis :</a:t>
            </a:r>
          </a:p>
        </p:txBody>
      </p:sp>
      <p:sp>
        <p:nvSpPr>
          <p:cNvPr id="556" name="Google Shape;574;p15"/>
          <p:cNvSpPr txBox="1"/>
          <p:nvPr/>
        </p:nvSpPr>
        <p:spPr>
          <a:xfrm>
            <a:off x="6583680" y="2651760"/>
            <a:ext cx="4251961" cy="109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100">
                <a:solidFill>
                  <a:srgbClr val="F8FAFC"/>
                </a:solidFill>
              </a:defRPr>
            </a:lvl1pPr>
          </a:lstStyle>
          <a:p>
            <a:pPr/>
            <a:r>
              <a:t>Hors cas d’usage à haut risque de l’annexe III liés à la solvabilité / credit scoring</a:t>
            </a:r>
          </a:p>
        </p:txBody>
      </p:sp>
      <p:sp>
        <p:nvSpPr>
          <p:cNvPr id="557" name="Google Shape;575;p15"/>
          <p:cNvSpPr txBox="1"/>
          <p:nvPr/>
        </p:nvSpPr>
        <p:spPr>
          <a:xfrm>
            <a:off x="6583680" y="4090830"/>
            <a:ext cx="10972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42E8C6"/>
                </a:solidFill>
              </a:defRPr>
            </a:lvl1pPr>
          </a:lstStyle>
          <a:p>
            <a:pPr/>
            <a:r>
              <a:t>Pourquoi ?</a:t>
            </a:r>
          </a:p>
        </p:txBody>
      </p:sp>
      <p:sp>
        <p:nvSpPr>
          <p:cNvPr id="558" name="Google Shape;576;p15"/>
          <p:cNvSpPr txBox="1"/>
          <p:nvPr/>
        </p:nvSpPr>
        <p:spPr>
          <a:xfrm>
            <a:off x="6583680" y="4407408"/>
            <a:ext cx="4251961" cy="1078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Le système priorise une campagne commerciale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Il ne décide pas d’un crédit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Il n’évalue pas la solvabilité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La qualification doit être revue si la finalité change</a:t>
            </a:r>
          </a:p>
        </p:txBody>
      </p:sp>
      <p:sp>
        <p:nvSpPr>
          <p:cNvPr id="559" name="Google Shape;577;p15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83;p16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64" name="Google Shape;584;p16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INDUSTRIALISATION</a:t>
            </a:r>
          </a:p>
        </p:txBody>
      </p:sp>
      <p:sp>
        <p:nvSpPr>
          <p:cNvPr id="565" name="Google Shape;585;p16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Une architecture volontairement simple et découplée</a:t>
            </a:r>
          </a:p>
        </p:txBody>
      </p:sp>
      <p:sp>
        <p:nvSpPr>
          <p:cNvPr id="566" name="Google Shape;586;p16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Entraînement séparé du scoring, validation centralisée, décision de campagne hors API</a:t>
            </a:r>
          </a:p>
        </p:txBody>
      </p:sp>
      <p:sp>
        <p:nvSpPr>
          <p:cNvPr id="567" name="Google Shape;587;p16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8" name="Google Shape;588;p16"/>
          <p:cNvSpPr/>
          <p:nvPr/>
        </p:nvSpPr>
        <p:spPr>
          <a:xfrm>
            <a:off x="64008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01827"/>
          </a:solidFill>
          <a:ln w="17775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69" name="Google Shape;589;p16"/>
          <p:cNvSpPr txBox="1"/>
          <p:nvPr/>
        </p:nvSpPr>
        <p:spPr>
          <a:xfrm>
            <a:off x="749808" y="2002535"/>
            <a:ext cx="1472184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>
                <a:solidFill>
                  <a:srgbClr val="F8FAFC"/>
                </a:solidFill>
              </a:defRPr>
            </a:pPr>
            <a:r>
              <a:t>Données</a:t>
            </a:r>
          </a:p>
          <a:p>
            <a:pPr algn="ctr">
              <a:defRPr b="1">
                <a:solidFill>
                  <a:srgbClr val="F8FAFC"/>
                </a:solidFill>
              </a:defRPr>
            </a:pPr>
            <a:r>
              <a:t>d’entraînement</a:t>
            </a:r>
          </a:p>
        </p:txBody>
      </p:sp>
      <p:sp>
        <p:nvSpPr>
          <p:cNvPr id="570" name="Google Shape;590;p16"/>
          <p:cNvSpPr/>
          <p:nvPr/>
        </p:nvSpPr>
        <p:spPr>
          <a:xfrm>
            <a:off x="274320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01827"/>
          </a:solidFill>
          <a:ln w="17775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71" name="Google Shape;591;p16"/>
          <p:cNvSpPr txBox="1"/>
          <p:nvPr/>
        </p:nvSpPr>
        <p:spPr>
          <a:xfrm>
            <a:off x="2852928" y="2002535"/>
            <a:ext cx="1472184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>
                <a:solidFill>
                  <a:srgbClr val="F8FAFC"/>
                </a:solidFill>
              </a:defRPr>
            </a:lvl1pPr>
          </a:lstStyle>
          <a:p>
            <a:pPr/>
            <a:r>
              <a:t>train.py</a:t>
            </a:r>
          </a:p>
        </p:txBody>
      </p:sp>
      <p:sp>
        <p:nvSpPr>
          <p:cNvPr id="572" name="Google Shape;592;p16"/>
          <p:cNvSpPr/>
          <p:nvPr/>
        </p:nvSpPr>
        <p:spPr>
          <a:xfrm>
            <a:off x="4846320" y="1828800"/>
            <a:ext cx="1691641" cy="914400"/>
          </a:xfrm>
          <a:prstGeom prst="roundRect">
            <a:avLst>
              <a:gd name="adj" fmla="val 8000"/>
            </a:avLst>
          </a:prstGeom>
          <a:solidFill>
            <a:srgbClr val="101827"/>
          </a:solidFill>
          <a:ln w="17775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73" name="Google Shape;593;p16"/>
          <p:cNvSpPr txBox="1"/>
          <p:nvPr/>
        </p:nvSpPr>
        <p:spPr>
          <a:xfrm>
            <a:off x="4956047" y="2002535"/>
            <a:ext cx="1472185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>
                <a:solidFill>
                  <a:srgbClr val="F8FAFC"/>
                </a:solidFill>
              </a:defRPr>
            </a:lvl1pPr>
          </a:lstStyle>
          <a:p>
            <a:pPr/>
            <a:r>
              <a:t>pipeline.joblib</a:t>
            </a:r>
          </a:p>
        </p:txBody>
      </p:sp>
      <p:sp>
        <p:nvSpPr>
          <p:cNvPr id="574" name="Google Shape;594;p16"/>
          <p:cNvSpPr/>
          <p:nvPr/>
        </p:nvSpPr>
        <p:spPr>
          <a:xfrm>
            <a:off x="6949440" y="1828800"/>
            <a:ext cx="1691641" cy="914400"/>
          </a:xfrm>
          <a:prstGeom prst="roundRect">
            <a:avLst>
              <a:gd name="adj" fmla="val 8000"/>
            </a:avLst>
          </a:prstGeom>
          <a:solidFill>
            <a:srgbClr val="101827"/>
          </a:solidFill>
          <a:ln w="17775">
            <a:solidFill>
              <a:srgbClr val="57E49B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75" name="Google Shape;595;p16"/>
          <p:cNvSpPr txBox="1"/>
          <p:nvPr/>
        </p:nvSpPr>
        <p:spPr>
          <a:xfrm>
            <a:off x="7059168" y="2002535"/>
            <a:ext cx="1472185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>
                <a:solidFill>
                  <a:srgbClr val="F8FAFC"/>
                </a:solidFill>
              </a:defRPr>
            </a:pPr>
            <a:r>
              <a:t>FastAPI</a:t>
            </a:r>
          </a:p>
          <a:p>
            <a:pPr algn="ctr">
              <a:defRPr b="1">
                <a:solidFill>
                  <a:srgbClr val="F8FAFC"/>
                </a:solidFill>
              </a:defRPr>
            </a:pPr>
            <a:r>
              <a:t>/health • /predict</a:t>
            </a:r>
          </a:p>
        </p:txBody>
      </p:sp>
      <p:sp>
        <p:nvSpPr>
          <p:cNvPr id="576" name="Google Shape;596;p16"/>
          <p:cNvSpPr/>
          <p:nvPr/>
        </p:nvSpPr>
        <p:spPr>
          <a:xfrm>
            <a:off x="9052559" y="1143000"/>
            <a:ext cx="2286001" cy="914400"/>
          </a:xfrm>
          <a:prstGeom prst="roundRect">
            <a:avLst>
              <a:gd name="adj" fmla="val 8000"/>
            </a:avLst>
          </a:prstGeom>
          <a:solidFill>
            <a:srgbClr val="101827"/>
          </a:solidFill>
          <a:ln w="17775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77" name="Google Shape;597;p16"/>
          <p:cNvSpPr txBox="1"/>
          <p:nvPr/>
        </p:nvSpPr>
        <p:spPr>
          <a:xfrm>
            <a:off x="9162288" y="1316735"/>
            <a:ext cx="2066545" cy="64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>
                <a:solidFill>
                  <a:srgbClr val="F8FAFC"/>
                </a:solidFill>
              </a:defRPr>
            </a:pPr>
            <a:r>
              <a:t>Streamlit</a:t>
            </a:r>
          </a:p>
          <a:p>
            <a:pPr algn="ctr">
              <a:defRPr b="1">
                <a:solidFill>
                  <a:srgbClr val="F8FAFC"/>
                </a:solidFill>
              </a:defRPr>
            </a:pPr>
            <a:r>
              <a:t>scoring</a:t>
            </a:r>
          </a:p>
        </p:txBody>
      </p:sp>
      <p:sp>
        <p:nvSpPr>
          <p:cNvPr id="578" name="Google Shape;598;p16"/>
          <p:cNvSpPr/>
          <p:nvPr/>
        </p:nvSpPr>
        <p:spPr>
          <a:xfrm>
            <a:off x="9052559" y="2514600"/>
            <a:ext cx="2286001" cy="914400"/>
          </a:xfrm>
          <a:prstGeom prst="roundRect">
            <a:avLst>
              <a:gd name="adj" fmla="val 8000"/>
            </a:avLst>
          </a:prstGeom>
          <a:solidFill>
            <a:srgbClr val="101827"/>
          </a:solidFill>
          <a:ln w="17775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79" name="Google Shape;599;p16"/>
          <p:cNvSpPr txBox="1"/>
          <p:nvPr/>
        </p:nvSpPr>
        <p:spPr>
          <a:xfrm>
            <a:off x="9162288" y="2688335"/>
            <a:ext cx="2066545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>
                <a:solidFill>
                  <a:srgbClr val="F8FAFC"/>
                </a:solidFill>
              </a:defRPr>
            </a:pPr>
            <a:r>
              <a:t>Classement campagne</a:t>
            </a:r>
          </a:p>
          <a:p>
            <a:pPr algn="ctr">
              <a:defRPr b="1">
                <a:solidFill>
                  <a:srgbClr val="F8FAFC"/>
                </a:solidFill>
              </a:defRPr>
            </a:pPr>
            <a:r>
              <a:t>Top-k</a:t>
            </a:r>
          </a:p>
        </p:txBody>
      </p:sp>
      <p:sp>
        <p:nvSpPr>
          <p:cNvPr id="580" name="Google Shape;600;p16"/>
          <p:cNvSpPr/>
          <p:nvPr/>
        </p:nvSpPr>
        <p:spPr>
          <a:xfrm>
            <a:off x="9052559" y="3886200"/>
            <a:ext cx="2286001" cy="914400"/>
          </a:xfrm>
          <a:prstGeom prst="roundRect">
            <a:avLst>
              <a:gd name="adj" fmla="val 8000"/>
            </a:avLst>
          </a:prstGeom>
          <a:solidFill>
            <a:srgbClr val="101827"/>
          </a:solidFill>
          <a:ln w="17775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81" name="Google Shape;601;p16"/>
          <p:cNvSpPr txBox="1"/>
          <p:nvPr/>
        </p:nvSpPr>
        <p:spPr>
          <a:xfrm>
            <a:off x="9162288" y="4059935"/>
            <a:ext cx="2066545" cy="640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 algn="ctr">
              <a:defRPr b="1">
                <a:solidFill>
                  <a:srgbClr val="F8FAFC"/>
                </a:solidFill>
              </a:defRPr>
            </a:pPr>
            <a:r>
              <a:t>Monitoring</a:t>
            </a:r>
          </a:p>
          <a:p>
            <a:pPr algn="ctr">
              <a:defRPr b="1">
                <a:solidFill>
                  <a:srgbClr val="F8FAFC"/>
                </a:solidFill>
              </a:defRPr>
            </a:pPr>
            <a:r>
              <a:t>Streamlit</a:t>
            </a:r>
          </a:p>
        </p:txBody>
      </p:sp>
      <p:sp>
        <p:nvSpPr>
          <p:cNvPr id="582" name="Google Shape;602;p16"/>
          <p:cNvSpPr/>
          <p:nvPr/>
        </p:nvSpPr>
        <p:spPr>
          <a:xfrm>
            <a:off x="2331720" y="2286000"/>
            <a:ext cx="411481" cy="0"/>
          </a:xfrm>
          <a:prstGeom prst="line">
            <a:avLst/>
          </a:prstGeom>
          <a:ln w="25400">
            <a:solidFill>
              <a:srgbClr val="55C7FF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3" name="Google Shape;603;p16"/>
          <p:cNvSpPr/>
          <p:nvPr/>
        </p:nvSpPr>
        <p:spPr>
          <a:xfrm>
            <a:off x="4434840" y="2286000"/>
            <a:ext cx="411481" cy="0"/>
          </a:xfrm>
          <a:prstGeom prst="line">
            <a:avLst/>
          </a:prstGeom>
          <a:ln w="25400">
            <a:solidFill>
              <a:srgbClr val="B18CFF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4" name="Google Shape;604;p16"/>
          <p:cNvSpPr/>
          <p:nvPr/>
        </p:nvSpPr>
        <p:spPr>
          <a:xfrm>
            <a:off x="6537959" y="2286000"/>
            <a:ext cx="411481" cy="0"/>
          </a:xfrm>
          <a:prstGeom prst="line">
            <a:avLst/>
          </a:prstGeom>
          <a:ln w="25400">
            <a:solidFill>
              <a:srgbClr val="42E8C6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5" name="Google Shape;605;p16"/>
          <p:cNvSpPr/>
          <p:nvPr/>
        </p:nvSpPr>
        <p:spPr>
          <a:xfrm flipV="1">
            <a:off x="8641080" y="1600199"/>
            <a:ext cx="411481" cy="457202"/>
          </a:xfrm>
          <a:prstGeom prst="line">
            <a:avLst/>
          </a:prstGeom>
          <a:ln w="25400">
            <a:solidFill>
              <a:srgbClr val="55C7FF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6" name="Google Shape;606;p16"/>
          <p:cNvSpPr/>
          <p:nvPr/>
        </p:nvSpPr>
        <p:spPr>
          <a:xfrm>
            <a:off x="8641080" y="2423160"/>
            <a:ext cx="411481" cy="548641"/>
          </a:xfrm>
          <a:prstGeom prst="line">
            <a:avLst/>
          </a:prstGeom>
          <a:ln w="25400">
            <a:solidFill>
              <a:srgbClr val="FFB547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7" name="Google Shape;607;p16"/>
          <p:cNvSpPr/>
          <p:nvPr/>
        </p:nvSpPr>
        <p:spPr>
          <a:xfrm>
            <a:off x="8641080" y="2606039"/>
            <a:ext cx="411481" cy="1737361"/>
          </a:xfrm>
          <a:prstGeom prst="line">
            <a:avLst/>
          </a:prstGeom>
          <a:ln w="25400">
            <a:solidFill>
              <a:srgbClr val="42E8C6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88" name="Google Shape;608;p16"/>
          <p:cNvSpPr/>
          <p:nvPr/>
        </p:nvSpPr>
        <p:spPr>
          <a:xfrm>
            <a:off x="731525" y="3931925"/>
            <a:ext cx="8085901" cy="1234501"/>
          </a:xfrm>
          <a:prstGeom prst="roundRect">
            <a:avLst>
              <a:gd name="adj" fmla="val 5926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89" name="Google Shape;609;p16"/>
          <p:cNvSpPr txBox="1"/>
          <p:nvPr/>
        </p:nvSpPr>
        <p:spPr>
          <a:xfrm>
            <a:off x="1005839" y="4233994"/>
            <a:ext cx="164592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Qualité logicielle</a:t>
            </a:r>
          </a:p>
        </p:txBody>
      </p:sp>
      <p:sp>
        <p:nvSpPr>
          <p:cNvPr id="590" name="Google Shape;610;p16"/>
          <p:cNvSpPr/>
          <p:nvPr/>
        </p:nvSpPr>
        <p:spPr>
          <a:xfrm>
            <a:off x="2743200" y="4133088"/>
            <a:ext cx="1600200" cy="292609"/>
          </a:xfrm>
          <a:prstGeom prst="roundRect">
            <a:avLst>
              <a:gd name="adj" fmla="val 31250"/>
            </a:avLst>
          </a:prstGeom>
          <a:solidFill>
            <a:srgbClr val="162033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91" name="Google Shape;611;p16"/>
          <p:cNvSpPr txBox="1"/>
          <p:nvPr/>
        </p:nvSpPr>
        <p:spPr>
          <a:xfrm>
            <a:off x="2798064" y="4202175"/>
            <a:ext cx="14904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55C7FF"/>
                </a:solidFill>
              </a:defRPr>
            </a:lvl1pPr>
          </a:lstStyle>
          <a:p>
            <a:pPr/>
            <a:r>
              <a:t>Pydantic / Literal</a:t>
            </a:r>
          </a:p>
        </p:txBody>
      </p:sp>
      <p:sp>
        <p:nvSpPr>
          <p:cNvPr id="592" name="Google Shape;612;p16"/>
          <p:cNvSpPr/>
          <p:nvPr/>
        </p:nvSpPr>
        <p:spPr>
          <a:xfrm>
            <a:off x="4526279" y="4133088"/>
            <a:ext cx="1005841" cy="292609"/>
          </a:xfrm>
          <a:prstGeom prst="roundRect">
            <a:avLst>
              <a:gd name="adj" fmla="val 31250"/>
            </a:avLst>
          </a:prstGeom>
          <a:solidFill>
            <a:srgbClr val="162033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93" name="Google Shape;613;p16"/>
          <p:cNvSpPr txBox="1"/>
          <p:nvPr/>
        </p:nvSpPr>
        <p:spPr>
          <a:xfrm>
            <a:off x="4581144" y="4202175"/>
            <a:ext cx="8961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B18CFF"/>
                </a:solidFill>
              </a:defRPr>
            </a:lvl1pPr>
          </a:lstStyle>
          <a:p>
            <a:pPr/>
            <a:r>
              <a:t>Pytest</a:t>
            </a:r>
          </a:p>
        </p:txBody>
      </p:sp>
      <p:sp>
        <p:nvSpPr>
          <p:cNvPr id="594" name="Google Shape;614;p16"/>
          <p:cNvSpPr/>
          <p:nvPr/>
        </p:nvSpPr>
        <p:spPr>
          <a:xfrm>
            <a:off x="5715000" y="4133088"/>
            <a:ext cx="1097281" cy="292609"/>
          </a:xfrm>
          <a:prstGeom prst="roundRect">
            <a:avLst>
              <a:gd name="adj" fmla="val 31250"/>
            </a:avLst>
          </a:prstGeom>
          <a:solidFill>
            <a:srgbClr val="162033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95" name="Google Shape;615;p16"/>
          <p:cNvSpPr txBox="1"/>
          <p:nvPr/>
        </p:nvSpPr>
        <p:spPr>
          <a:xfrm>
            <a:off x="5769864" y="4202175"/>
            <a:ext cx="987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42E8C6"/>
                </a:solidFill>
              </a:defRPr>
            </a:lvl1pPr>
          </a:lstStyle>
          <a:p>
            <a:pPr/>
            <a:r>
              <a:t>Docker</a:t>
            </a:r>
          </a:p>
        </p:txBody>
      </p:sp>
      <p:sp>
        <p:nvSpPr>
          <p:cNvPr id="596" name="Google Shape;616;p16"/>
          <p:cNvSpPr/>
          <p:nvPr/>
        </p:nvSpPr>
        <p:spPr>
          <a:xfrm>
            <a:off x="6995159" y="4133088"/>
            <a:ext cx="1554481" cy="292609"/>
          </a:xfrm>
          <a:prstGeom prst="roundRect">
            <a:avLst>
              <a:gd name="adj" fmla="val 31250"/>
            </a:avLst>
          </a:prstGeom>
          <a:solidFill>
            <a:srgbClr val="162033"/>
          </a:solidFill>
          <a:ln w="12700">
            <a:solidFill>
              <a:srgbClr val="57E49B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597" name="Google Shape;617;p16"/>
          <p:cNvSpPr txBox="1"/>
          <p:nvPr/>
        </p:nvSpPr>
        <p:spPr>
          <a:xfrm>
            <a:off x="7050023" y="4202175"/>
            <a:ext cx="14447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57E49B"/>
                </a:solidFill>
              </a:defRPr>
            </a:lvl1pPr>
          </a:lstStyle>
          <a:p>
            <a:pPr/>
            <a:r>
              <a:t>GitHub Actions</a:t>
            </a:r>
          </a:p>
        </p:txBody>
      </p:sp>
      <p:sp>
        <p:nvSpPr>
          <p:cNvPr id="598" name="Google Shape;618;p16"/>
          <p:cNvSpPr txBox="1"/>
          <p:nvPr/>
        </p:nvSpPr>
        <p:spPr>
          <a:xfrm>
            <a:off x="777240" y="5730608"/>
            <a:ext cx="105156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FFB547"/>
                </a:solidFill>
              </a:defRPr>
            </a:lvl1pPr>
          </a:lstStyle>
          <a:p>
            <a:pPr/>
            <a:r>
              <a:t>L’API retourne un score individuel ; la règle top-k est appliquée à l’échelle de la campagne</a:t>
            </a:r>
          </a:p>
        </p:txBody>
      </p:sp>
      <p:sp>
        <p:nvSpPr>
          <p:cNvPr id="599" name="Google Shape;619;p16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25;p17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04" name="Google Shape;626;p17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MONITORING</a:t>
            </a:r>
          </a:p>
        </p:txBody>
      </p:sp>
      <p:sp>
        <p:nvSpPr>
          <p:cNvPr id="605" name="Google Shape;627;p17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Le prototype de monitoring distingue le temps réel du différé</a:t>
            </a:r>
          </a:p>
        </p:txBody>
      </p:sp>
      <p:sp>
        <p:nvSpPr>
          <p:cNvPr id="606" name="Google Shape;628;p17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Technique immédiatement observable, métier seulement après retour de campagne</a:t>
            </a:r>
          </a:p>
        </p:txBody>
      </p:sp>
      <p:sp>
        <p:nvSpPr>
          <p:cNvPr id="607" name="Google Shape;629;p17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08" name="Google Shape;630;p17"/>
          <p:cNvSpPr/>
          <p:nvPr/>
        </p:nvSpPr>
        <p:spPr>
          <a:xfrm>
            <a:off x="8641080" y="1280160"/>
            <a:ext cx="2971801" cy="4480560"/>
          </a:xfrm>
          <a:prstGeom prst="roundRect">
            <a:avLst>
              <a:gd name="adj" fmla="val 2462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09" name="Google Shape;631;p17"/>
          <p:cNvSpPr txBox="1"/>
          <p:nvPr/>
        </p:nvSpPr>
        <p:spPr>
          <a:xfrm>
            <a:off x="8942831" y="1644671"/>
            <a:ext cx="2286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42E8C6"/>
                </a:solidFill>
              </a:defRPr>
            </a:lvl1pPr>
          </a:lstStyle>
          <a:p>
            <a:pPr/>
            <a:r>
              <a:t>Technique — immédiat</a:t>
            </a:r>
          </a:p>
        </p:txBody>
      </p:sp>
      <p:sp>
        <p:nvSpPr>
          <p:cNvPr id="610" name="Google Shape;632;p17"/>
          <p:cNvSpPr txBox="1"/>
          <p:nvPr/>
        </p:nvSpPr>
        <p:spPr>
          <a:xfrm>
            <a:off x="8942831" y="2011679"/>
            <a:ext cx="2240281" cy="1417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Nombre de requêtes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Latence p95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Taux d’erreur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Distribution des scores</a:t>
            </a:r>
          </a:p>
        </p:txBody>
      </p:sp>
      <p:sp>
        <p:nvSpPr>
          <p:cNvPr id="611" name="Google Shape;633;p17"/>
          <p:cNvSpPr txBox="1"/>
          <p:nvPr/>
        </p:nvSpPr>
        <p:spPr>
          <a:xfrm>
            <a:off x="8942831" y="3674639"/>
            <a:ext cx="2286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B547"/>
                </a:solidFill>
              </a:defRPr>
            </a:lvl1pPr>
          </a:lstStyle>
          <a:p>
            <a:pPr/>
            <a:r>
              <a:t>Métier — différé</a:t>
            </a:r>
          </a:p>
        </p:txBody>
      </p:sp>
      <p:sp>
        <p:nvSpPr>
          <p:cNvPr id="612" name="Google Shape;634;p17"/>
          <p:cNvSpPr txBox="1"/>
          <p:nvPr/>
        </p:nvSpPr>
        <p:spPr>
          <a:xfrm>
            <a:off x="8942831" y="4041647"/>
            <a:ext cx="2240281" cy="1325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Précision top 10 %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Lift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Souscripteurs captés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Calibration</a:t>
            </a:r>
          </a:p>
          <a:p>
            <a:pPr marL="228600" indent="-228600">
              <a:buClr>
                <a:srgbClr val="DCE5F2"/>
              </a:buClr>
              <a:buSzPts val="1100"/>
              <a:buFont typeface="Arial"/>
              <a:buChar char="•"/>
              <a:defRPr sz="1100">
                <a:solidFill>
                  <a:srgbClr val="DCE5F2"/>
                </a:solidFill>
              </a:defRPr>
            </a:pPr>
            <a:r>
              <a:t>Équité par sous-groupe</a:t>
            </a:r>
          </a:p>
        </p:txBody>
      </p:sp>
      <p:sp>
        <p:nvSpPr>
          <p:cNvPr id="613" name="Google Shape;635;p17"/>
          <p:cNvSpPr txBox="1"/>
          <p:nvPr/>
        </p:nvSpPr>
        <p:spPr>
          <a:xfrm>
            <a:off x="8887968" y="5440679"/>
            <a:ext cx="2331721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905255">
              <a:defRPr b="1" sz="1089">
                <a:solidFill>
                  <a:srgbClr val="F8FAFC"/>
                </a:solidFill>
              </a:defRPr>
            </a:lvl1pPr>
          </a:lstStyle>
          <a:p>
            <a:pPr/>
            <a:r>
              <a:t>Le retour réel de campagne est indispensable pour juger le modèle</a:t>
            </a:r>
          </a:p>
        </p:txBody>
      </p:sp>
      <p:sp>
        <p:nvSpPr>
          <p:cNvPr id="614" name="Google Shape;636;p17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615" name="Picture 637" descr="Picture 63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63802" y="2147483647"/>
            <a:ext cx="3633515" cy="1767848"/>
          </a:xfrm>
          <a:prstGeom prst="rect">
            <a:avLst/>
          </a:prstGeom>
          <a:ln w="12700">
            <a:miter lim="400000"/>
          </a:ln>
        </p:spPr>
      </p:pic>
      <p:pic>
        <p:nvPicPr>
          <p:cNvPr id="616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34732" y="1280160"/>
            <a:ext cx="7034156" cy="269778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7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93454" y="3968873"/>
            <a:ext cx="5212081" cy="21941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42;p18"/>
          <p:cNvSpPr/>
          <p:nvPr/>
        </p:nvSpPr>
        <p:spPr>
          <a:xfrm>
            <a:off x="530351" y="164592"/>
            <a:ext cx="1481329" cy="274321"/>
          </a:xfrm>
          <a:prstGeom prst="roundRect">
            <a:avLst>
              <a:gd name="adj" fmla="val 26667"/>
            </a:avLst>
          </a:prstGeom>
          <a:solidFill>
            <a:srgbClr val="57E49B"/>
          </a:solidFill>
          <a:ln w="12700">
            <a:solidFill>
              <a:srgbClr val="57E49B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22" name="Google Shape;643;p18"/>
          <p:cNvSpPr txBox="1"/>
          <p:nvPr/>
        </p:nvSpPr>
        <p:spPr>
          <a:xfrm>
            <a:off x="621792" y="219964"/>
            <a:ext cx="129844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800">
                <a:solidFill>
                  <a:srgbClr val="080C18"/>
                </a:solidFill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623" name="Google Shape;644;p18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La recommandation finale tient en une phrase</a:t>
            </a:r>
          </a:p>
        </p:txBody>
      </p:sp>
      <p:sp>
        <p:nvSpPr>
          <p:cNvPr id="624" name="Google Shape;645;p18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Prioriser les appels, sans transformer le score en décision automatique</a:t>
            </a:r>
          </a:p>
        </p:txBody>
      </p:sp>
      <p:sp>
        <p:nvSpPr>
          <p:cNvPr id="625" name="Google Shape;646;p18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26" name="Google Shape;647;p18"/>
          <p:cNvSpPr txBox="1"/>
          <p:nvPr/>
        </p:nvSpPr>
        <p:spPr>
          <a:xfrm>
            <a:off x="822960" y="1508760"/>
            <a:ext cx="10515601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3000">
                <a:solidFill>
                  <a:srgbClr val="F8FAFC"/>
                </a:solidFill>
              </a:defRPr>
            </a:lvl1pPr>
          </a:lstStyle>
          <a:p>
            <a:pPr/>
            <a:r>
              <a:t>Gradient Boosting + scénario S3 + politique top 10 %</a:t>
            </a:r>
          </a:p>
        </p:txBody>
      </p:sp>
      <p:sp>
        <p:nvSpPr>
          <p:cNvPr id="627" name="Google Shape;648;p18"/>
          <p:cNvSpPr/>
          <p:nvPr/>
        </p:nvSpPr>
        <p:spPr>
          <a:xfrm>
            <a:off x="777240" y="2743200"/>
            <a:ext cx="2468880" cy="1325881"/>
          </a:xfrm>
          <a:prstGeom prst="roundRect">
            <a:avLst>
              <a:gd name="adj" fmla="val 5517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28" name="Google Shape;649;p18"/>
          <p:cNvSpPr/>
          <p:nvPr/>
        </p:nvSpPr>
        <p:spPr>
          <a:xfrm>
            <a:off x="777240" y="2743199"/>
            <a:ext cx="54865" cy="1325882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29" name="Google Shape;650;p18"/>
          <p:cNvSpPr txBox="1"/>
          <p:nvPr/>
        </p:nvSpPr>
        <p:spPr>
          <a:xfrm>
            <a:off x="978408" y="2926887"/>
            <a:ext cx="214884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taux de souscription ciblé</a:t>
            </a:r>
          </a:p>
        </p:txBody>
      </p:sp>
      <p:sp>
        <p:nvSpPr>
          <p:cNvPr id="630" name="Google Shape;651;p18"/>
          <p:cNvSpPr txBox="1"/>
          <p:nvPr/>
        </p:nvSpPr>
        <p:spPr>
          <a:xfrm>
            <a:off x="978408" y="3222611"/>
            <a:ext cx="2148840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55 %</a:t>
            </a:r>
          </a:p>
        </p:txBody>
      </p:sp>
      <p:sp>
        <p:nvSpPr>
          <p:cNvPr id="631" name="Google Shape;652;p18"/>
          <p:cNvSpPr/>
          <p:nvPr/>
        </p:nvSpPr>
        <p:spPr>
          <a:xfrm>
            <a:off x="3566159" y="2743200"/>
            <a:ext cx="2468881" cy="1325881"/>
          </a:xfrm>
          <a:prstGeom prst="roundRect">
            <a:avLst>
              <a:gd name="adj" fmla="val 5517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32" name="Google Shape;653;p18"/>
          <p:cNvSpPr/>
          <p:nvPr/>
        </p:nvSpPr>
        <p:spPr>
          <a:xfrm>
            <a:off x="3566159" y="2743199"/>
            <a:ext cx="54865" cy="1325882"/>
          </a:xfrm>
          <a:prstGeom prst="rect">
            <a:avLst/>
          </a:prstGeom>
          <a:solidFill>
            <a:srgbClr val="B18CFF"/>
          </a:solidFill>
          <a:ln w="127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33" name="Google Shape;654;p18"/>
          <p:cNvSpPr txBox="1"/>
          <p:nvPr/>
        </p:nvSpPr>
        <p:spPr>
          <a:xfrm>
            <a:off x="3767328" y="2926887"/>
            <a:ext cx="21488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lift</a:t>
            </a:r>
          </a:p>
        </p:txBody>
      </p:sp>
      <p:sp>
        <p:nvSpPr>
          <p:cNvPr id="634" name="Google Shape;655;p18"/>
          <p:cNvSpPr txBox="1"/>
          <p:nvPr/>
        </p:nvSpPr>
        <p:spPr>
          <a:xfrm>
            <a:off x="3767328" y="3222611"/>
            <a:ext cx="2148841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4,88×</a:t>
            </a:r>
          </a:p>
        </p:txBody>
      </p:sp>
      <p:sp>
        <p:nvSpPr>
          <p:cNvPr id="635" name="Google Shape;656;p18"/>
          <p:cNvSpPr/>
          <p:nvPr/>
        </p:nvSpPr>
        <p:spPr>
          <a:xfrm>
            <a:off x="6355079" y="2743200"/>
            <a:ext cx="2468881" cy="1325881"/>
          </a:xfrm>
          <a:prstGeom prst="roundRect">
            <a:avLst>
              <a:gd name="adj" fmla="val 5517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36" name="Google Shape;657;p18"/>
          <p:cNvSpPr/>
          <p:nvPr/>
        </p:nvSpPr>
        <p:spPr>
          <a:xfrm>
            <a:off x="6355079" y="2743199"/>
            <a:ext cx="54865" cy="1325882"/>
          </a:xfrm>
          <a:prstGeom prst="rect">
            <a:avLst/>
          </a:prstGeom>
          <a:solidFill>
            <a:srgbClr val="42E8C6"/>
          </a:solidFill>
          <a:ln w="127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37" name="Google Shape;658;p18"/>
          <p:cNvSpPr txBox="1"/>
          <p:nvPr/>
        </p:nvSpPr>
        <p:spPr>
          <a:xfrm>
            <a:off x="6556247" y="2926887"/>
            <a:ext cx="21488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des souscripteurs captés</a:t>
            </a:r>
          </a:p>
        </p:txBody>
      </p:sp>
      <p:sp>
        <p:nvSpPr>
          <p:cNvPr id="638" name="Google Shape;659;p18"/>
          <p:cNvSpPr txBox="1"/>
          <p:nvPr/>
        </p:nvSpPr>
        <p:spPr>
          <a:xfrm>
            <a:off x="6556247" y="3222611"/>
            <a:ext cx="2148841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48,8 %</a:t>
            </a:r>
          </a:p>
        </p:txBody>
      </p:sp>
      <p:sp>
        <p:nvSpPr>
          <p:cNvPr id="639" name="Google Shape;660;p18"/>
          <p:cNvSpPr/>
          <p:nvPr/>
        </p:nvSpPr>
        <p:spPr>
          <a:xfrm>
            <a:off x="9144000" y="2743200"/>
            <a:ext cx="2468880" cy="1325881"/>
          </a:xfrm>
          <a:prstGeom prst="roundRect">
            <a:avLst>
              <a:gd name="adj" fmla="val 5517"/>
            </a:avLst>
          </a:prstGeom>
          <a:solidFill>
            <a:srgbClr val="101827">
              <a:alpha val="98039"/>
            </a:srgbClr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40" name="Google Shape;661;p18"/>
          <p:cNvSpPr/>
          <p:nvPr/>
        </p:nvSpPr>
        <p:spPr>
          <a:xfrm>
            <a:off x="9144000" y="2743199"/>
            <a:ext cx="54864" cy="1325882"/>
          </a:xfrm>
          <a:prstGeom prst="rect">
            <a:avLst/>
          </a:prstGeom>
          <a:solidFill>
            <a:srgbClr val="55C7FF"/>
          </a:solidFill>
          <a:ln w="127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41" name="Google Shape;662;p18"/>
          <p:cNvSpPr txBox="1"/>
          <p:nvPr/>
        </p:nvSpPr>
        <p:spPr>
          <a:xfrm>
            <a:off x="9345168" y="2926887"/>
            <a:ext cx="21488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8EA0B8"/>
                </a:solidFill>
              </a:defRPr>
            </a:lvl1pPr>
          </a:lstStyle>
          <a:p>
            <a:pPr/>
            <a:r>
              <a:t>de la population appelée</a:t>
            </a:r>
          </a:p>
        </p:txBody>
      </p:sp>
      <p:sp>
        <p:nvSpPr>
          <p:cNvPr id="642" name="Google Shape;663;p18"/>
          <p:cNvSpPr txBox="1"/>
          <p:nvPr/>
        </p:nvSpPr>
        <p:spPr>
          <a:xfrm>
            <a:off x="9345168" y="3222611"/>
            <a:ext cx="2148841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500">
                <a:solidFill>
                  <a:srgbClr val="F8FAFC"/>
                </a:solidFill>
              </a:defRPr>
            </a:lvl1pPr>
          </a:lstStyle>
          <a:p>
            <a:pPr/>
            <a:r>
              <a:t>10 %</a:t>
            </a:r>
          </a:p>
        </p:txBody>
      </p:sp>
      <p:sp>
        <p:nvSpPr>
          <p:cNvPr id="643" name="Google Shape;664;p18"/>
          <p:cNvSpPr txBox="1"/>
          <p:nvPr/>
        </p:nvSpPr>
        <p:spPr>
          <a:xfrm>
            <a:off x="914399" y="4800600"/>
            <a:ext cx="10241282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2000">
                <a:solidFill>
                  <a:srgbClr val="DCE5F2"/>
                </a:solidFill>
              </a:defRPr>
            </a:lvl1pPr>
          </a:lstStyle>
          <a:p>
            <a:pPr/>
            <a:r>
              <a:t>Ce projet ne cherche pas le meilleur score isolé : il cherche la solution la plus cohérente avec les données disponibles, la capacité métier, l’équité, la conformité et l’exploitation</a:t>
            </a:r>
          </a:p>
        </p:txBody>
      </p:sp>
      <p:sp>
        <p:nvSpPr>
          <p:cNvPr id="644" name="Google Shape;665;p18"/>
          <p:cNvSpPr txBox="1"/>
          <p:nvPr/>
        </p:nvSpPr>
        <p:spPr>
          <a:xfrm>
            <a:off x="4754879" y="5923231"/>
            <a:ext cx="2651761" cy="333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300">
                <a:solidFill>
                  <a:srgbClr val="57E49B"/>
                </a:solidFill>
              </a:defRPr>
            </a:lvl1pPr>
          </a:lstStyle>
          <a:p>
            <a:pPr/>
            <a:r>
              <a:t>Questions</a:t>
            </a:r>
          </a:p>
        </p:txBody>
      </p:sp>
      <p:sp>
        <p:nvSpPr>
          <p:cNvPr id="645" name="Google Shape;666;p18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72;p19"/>
          <p:cNvSpPr txBox="1"/>
          <p:nvPr/>
        </p:nvSpPr>
        <p:spPr>
          <a:xfrm>
            <a:off x="822960" y="2420039"/>
            <a:ext cx="457200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F8FAFC"/>
                </a:solidFill>
              </a:defRPr>
            </a:lvl1pPr>
          </a:lstStyle>
          <a:p>
            <a:pPr/>
            <a:r>
              <a:t>Annexes</a:t>
            </a:r>
          </a:p>
        </p:txBody>
      </p:sp>
      <p:sp>
        <p:nvSpPr>
          <p:cNvPr id="650" name="Google Shape;673;p19"/>
          <p:cNvSpPr txBox="1"/>
          <p:nvPr/>
        </p:nvSpPr>
        <p:spPr>
          <a:xfrm>
            <a:off x="868680" y="3259811"/>
            <a:ext cx="50292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42E8C6"/>
                </a:solidFill>
              </a:defRPr>
            </a:lvl1pPr>
          </a:lstStyle>
          <a:p>
            <a:pPr/>
            <a:r>
              <a:t>Slides de réponse aux questions</a:t>
            </a:r>
          </a:p>
        </p:txBody>
      </p:sp>
      <p:sp>
        <p:nvSpPr>
          <p:cNvPr id="651" name="Google Shape;674;p19"/>
          <p:cNvSpPr txBox="1"/>
          <p:nvPr/>
        </p:nvSpPr>
        <p:spPr>
          <a:xfrm>
            <a:off x="868680" y="3970388"/>
            <a:ext cx="77724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8EA0B8"/>
                </a:solidFill>
              </a:defRPr>
            </a:lvl1pPr>
          </a:lstStyle>
          <a:p>
            <a:pPr/>
            <a:r>
              <a:t>Confusion matrix • top-k complet • sous-groupes • scénarios • robustesse</a:t>
            </a:r>
          </a:p>
        </p:txBody>
      </p:sp>
      <p:sp>
        <p:nvSpPr>
          <p:cNvPr id="652" name="Google Shape;675;p19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81;p20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Annexe — Matrice de confusion au seuil 0,5</a:t>
            </a:r>
          </a:p>
        </p:txBody>
      </p:sp>
      <p:sp>
        <p:nvSpPr>
          <p:cNvPr id="655" name="Google Shape;682;p20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Lecture analytique uniquement</a:t>
            </a:r>
          </a:p>
        </p:txBody>
      </p:sp>
      <p:sp>
        <p:nvSpPr>
          <p:cNvPr id="656" name="Google Shape;683;p20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57" name="Google Shape;684;p20"/>
          <p:cNvSpPr/>
          <p:nvPr/>
        </p:nvSpPr>
        <p:spPr>
          <a:xfrm>
            <a:off x="1920239" y="1554479"/>
            <a:ext cx="1554481" cy="975362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58" name="Google Shape;686;p20"/>
          <p:cNvSpPr/>
          <p:nvPr/>
        </p:nvSpPr>
        <p:spPr>
          <a:xfrm>
            <a:off x="3474720" y="1554479"/>
            <a:ext cx="1600201" cy="975362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59" name="Google Shape;687;p20"/>
          <p:cNvSpPr txBox="1"/>
          <p:nvPr/>
        </p:nvSpPr>
        <p:spPr>
          <a:xfrm>
            <a:off x="3520440" y="1591055"/>
            <a:ext cx="1508761" cy="902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300">
                <a:solidFill>
                  <a:srgbClr val="F8FAFC"/>
                </a:solidFill>
              </a:defRPr>
            </a:lvl1pPr>
          </a:lstStyle>
          <a:p>
            <a:pPr/>
            <a:r>
              <a:t>Prédit no</a:t>
            </a:r>
          </a:p>
        </p:txBody>
      </p:sp>
      <p:sp>
        <p:nvSpPr>
          <p:cNvPr id="660" name="Google Shape;688;p20"/>
          <p:cNvSpPr/>
          <p:nvPr/>
        </p:nvSpPr>
        <p:spPr>
          <a:xfrm>
            <a:off x="5074920" y="1554479"/>
            <a:ext cx="1600201" cy="975362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61" name="Google Shape;689;p20"/>
          <p:cNvSpPr txBox="1"/>
          <p:nvPr/>
        </p:nvSpPr>
        <p:spPr>
          <a:xfrm>
            <a:off x="5120640" y="1591055"/>
            <a:ext cx="1508761" cy="902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300">
                <a:solidFill>
                  <a:srgbClr val="F8FAFC"/>
                </a:solidFill>
              </a:defRPr>
            </a:lvl1pPr>
          </a:lstStyle>
          <a:p>
            <a:pPr/>
            <a:r>
              <a:t>Prédit yes</a:t>
            </a:r>
          </a:p>
        </p:txBody>
      </p:sp>
      <p:sp>
        <p:nvSpPr>
          <p:cNvPr id="662" name="Google Shape;690;p20"/>
          <p:cNvSpPr/>
          <p:nvPr/>
        </p:nvSpPr>
        <p:spPr>
          <a:xfrm>
            <a:off x="1920239" y="2529839"/>
            <a:ext cx="1554481" cy="9753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63" name="Google Shape;691;p20"/>
          <p:cNvSpPr txBox="1"/>
          <p:nvPr/>
        </p:nvSpPr>
        <p:spPr>
          <a:xfrm>
            <a:off x="1965960" y="2566416"/>
            <a:ext cx="1463041" cy="902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DCE5F2"/>
                </a:solidFill>
              </a:defRPr>
            </a:lvl1pPr>
          </a:lstStyle>
          <a:p>
            <a:pPr/>
            <a:r>
              <a:t>Réel no</a:t>
            </a:r>
          </a:p>
        </p:txBody>
      </p:sp>
      <p:sp>
        <p:nvSpPr>
          <p:cNvPr id="664" name="Google Shape;692;p20"/>
          <p:cNvSpPr/>
          <p:nvPr/>
        </p:nvSpPr>
        <p:spPr>
          <a:xfrm>
            <a:off x="3474720" y="2529839"/>
            <a:ext cx="1600201" cy="9753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65" name="Google Shape;693;p20"/>
          <p:cNvSpPr txBox="1"/>
          <p:nvPr/>
        </p:nvSpPr>
        <p:spPr>
          <a:xfrm>
            <a:off x="3520440" y="2566416"/>
            <a:ext cx="1508761" cy="902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DCE5F2"/>
                </a:solidFill>
              </a:defRPr>
            </a:lvl1pPr>
          </a:lstStyle>
          <a:p>
            <a:pPr/>
            <a:r>
              <a:t>7 205</a:t>
            </a:r>
          </a:p>
        </p:txBody>
      </p:sp>
      <p:sp>
        <p:nvSpPr>
          <p:cNvPr id="666" name="Google Shape;694;p20"/>
          <p:cNvSpPr/>
          <p:nvPr/>
        </p:nvSpPr>
        <p:spPr>
          <a:xfrm>
            <a:off x="5074920" y="2529839"/>
            <a:ext cx="1600201" cy="9753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67" name="Google Shape;695;p20"/>
          <p:cNvSpPr txBox="1"/>
          <p:nvPr/>
        </p:nvSpPr>
        <p:spPr>
          <a:xfrm>
            <a:off x="5120640" y="2566416"/>
            <a:ext cx="1508761" cy="902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DCE5F2"/>
                </a:solidFill>
              </a:defRPr>
            </a:lvl1pPr>
          </a:lstStyle>
          <a:p>
            <a:pPr/>
            <a:r>
              <a:t>105</a:t>
            </a:r>
          </a:p>
        </p:txBody>
      </p:sp>
      <p:sp>
        <p:nvSpPr>
          <p:cNvPr id="668" name="Google Shape;696;p20"/>
          <p:cNvSpPr/>
          <p:nvPr/>
        </p:nvSpPr>
        <p:spPr>
          <a:xfrm>
            <a:off x="1920239" y="3505199"/>
            <a:ext cx="1554481" cy="975362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69" name="Google Shape;697;p20"/>
          <p:cNvSpPr txBox="1"/>
          <p:nvPr/>
        </p:nvSpPr>
        <p:spPr>
          <a:xfrm>
            <a:off x="1965960" y="3541776"/>
            <a:ext cx="1463041" cy="902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DCE5F2"/>
                </a:solidFill>
              </a:defRPr>
            </a:lvl1pPr>
          </a:lstStyle>
          <a:p>
            <a:pPr/>
            <a:r>
              <a:t>Réel yes</a:t>
            </a:r>
          </a:p>
        </p:txBody>
      </p:sp>
      <p:sp>
        <p:nvSpPr>
          <p:cNvPr id="670" name="Google Shape;698;p20"/>
          <p:cNvSpPr/>
          <p:nvPr/>
        </p:nvSpPr>
        <p:spPr>
          <a:xfrm>
            <a:off x="3474720" y="3505199"/>
            <a:ext cx="1600201" cy="975362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71" name="Google Shape;699;p20"/>
          <p:cNvSpPr txBox="1"/>
          <p:nvPr/>
        </p:nvSpPr>
        <p:spPr>
          <a:xfrm>
            <a:off x="3520440" y="3541776"/>
            <a:ext cx="1508761" cy="902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DCE5F2"/>
                </a:solidFill>
              </a:defRPr>
            </a:lvl1pPr>
          </a:lstStyle>
          <a:p>
            <a:pPr/>
            <a:r>
              <a:t>699</a:t>
            </a:r>
          </a:p>
        </p:txBody>
      </p:sp>
      <p:sp>
        <p:nvSpPr>
          <p:cNvPr id="672" name="Google Shape;700;p20"/>
          <p:cNvSpPr/>
          <p:nvPr/>
        </p:nvSpPr>
        <p:spPr>
          <a:xfrm>
            <a:off x="5074920" y="3505199"/>
            <a:ext cx="1600201" cy="975362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73" name="Google Shape;701;p20"/>
          <p:cNvSpPr txBox="1"/>
          <p:nvPr/>
        </p:nvSpPr>
        <p:spPr>
          <a:xfrm>
            <a:off x="5120640" y="3541776"/>
            <a:ext cx="1508761" cy="902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200">
                <a:solidFill>
                  <a:srgbClr val="DCE5F2"/>
                </a:solidFill>
              </a:defRPr>
            </a:lvl1pPr>
          </a:lstStyle>
          <a:p>
            <a:pPr/>
            <a:r>
              <a:t>229</a:t>
            </a:r>
          </a:p>
        </p:txBody>
      </p:sp>
      <p:sp>
        <p:nvSpPr>
          <p:cNvPr id="674" name="Google Shape;702;p20"/>
          <p:cNvSpPr/>
          <p:nvPr/>
        </p:nvSpPr>
        <p:spPr>
          <a:xfrm>
            <a:off x="7178040" y="1554480"/>
            <a:ext cx="3291841" cy="2926080"/>
          </a:xfrm>
          <a:prstGeom prst="roundRect">
            <a:avLst>
              <a:gd name="adj" fmla="val 2500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75" name="Google Shape;703;p20"/>
          <p:cNvSpPr txBox="1"/>
          <p:nvPr/>
        </p:nvSpPr>
        <p:spPr>
          <a:xfrm>
            <a:off x="7452359" y="1842491"/>
            <a:ext cx="118872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8FAFC"/>
                </a:solidFill>
              </a:defRPr>
            </a:lvl1pPr>
          </a:lstStyle>
          <a:p>
            <a:pPr/>
            <a:r>
              <a:t>Lecture</a:t>
            </a:r>
          </a:p>
        </p:txBody>
      </p:sp>
      <p:sp>
        <p:nvSpPr>
          <p:cNvPr id="676" name="Google Shape;704;p20"/>
          <p:cNvSpPr txBox="1"/>
          <p:nvPr/>
        </p:nvSpPr>
        <p:spPr>
          <a:xfrm>
            <a:off x="7452359" y="2285999"/>
            <a:ext cx="2514601" cy="173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Très peu de faux positifs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Mais 699 faux négatifs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Rappel = 24,7 %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Le seuil 0,5 n’est donc pas adapté à la politique de campagne</a:t>
            </a:r>
          </a:p>
        </p:txBody>
      </p:sp>
      <p:sp>
        <p:nvSpPr>
          <p:cNvPr id="677" name="Google Shape;705;p20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711;p21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Annexe — Table top-k complète</a:t>
            </a:r>
          </a:p>
        </p:txBody>
      </p:sp>
      <p:sp>
        <p:nvSpPr>
          <p:cNvPr id="680" name="Google Shape;712;p21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Probabilités out-of-fold sur le train</a:t>
            </a:r>
          </a:p>
        </p:txBody>
      </p:sp>
      <p:sp>
        <p:nvSpPr>
          <p:cNvPr id="681" name="Google Shape;713;p21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82" name="Google Shape;714;p21"/>
          <p:cNvSpPr/>
          <p:nvPr/>
        </p:nvSpPr>
        <p:spPr>
          <a:xfrm>
            <a:off x="640080" y="1325880"/>
            <a:ext cx="1828801" cy="502920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83" name="Google Shape;715;p21"/>
          <p:cNvSpPr txBox="1"/>
          <p:nvPr/>
        </p:nvSpPr>
        <p:spPr>
          <a:xfrm>
            <a:off x="685799" y="1362455"/>
            <a:ext cx="173736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900">
                <a:solidFill>
                  <a:srgbClr val="F8FAFC"/>
                </a:solidFill>
              </a:defRPr>
            </a:lvl1pPr>
          </a:lstStyle>
          <a:p>
            <a:pPr/>
            <a:r>
              <a:t>Modèle</a:t>
            </a:r>
          </a:p>
        </p:txBody>
      </p:sp>
      <p:sp>
        <p:nvSpPr>
          <p:cNvPr id="684" name="Google Shape;716;p21"/>
          <p:cNvSpPr/>
          <p:nvPr/>
        </p:nvSpPr>
        <p:spPr>
          <a:xfrm>
            <a:off x="2468879" y="1325880"/>
            <a:ext cx="1325881" cy="502920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85" name="Google Shape;717;p21"/>
          <p:cNvSpPr txBox="1"/>
          <p:nvPr/>
        </p:nvSpPr>
        <p:spPr>
          <a:xfrm>
            <a:off x="2514599" y="1362455"/>
            <a:ext cx="123444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8FAFC"/>
                </a:solidFill>
              </a:defRPr>
            </a:lvl1pPr>
          </a:lstStyle>
          <a:p>
            <a:pPr/>
            <a:r>
              <a:t>Capacité</a:t>
            </a:r>
          </a:p>
        </p:txBody>
      </p:sp>
      <p:sp>
        <p:nvSpPr>
          <p:cNvPr id="686" name="Google Shape;718;p21"/>
          <p:cNvSpPr/>
          <p:nvPr/>
        </p:nvSpPr>
        <p:spPr>
          <a:xfrm>
            <a:off x="3794759" y="1325880"/>
            <a:ext cx="1508761" cy="502920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87" name="Google Shape;719;p21"/>
          <p:cNvSpPr txBox="1"/>
          <p:nvPr/>
        </p:nvSpPr>
        <p:spPr>
          <a:xfrm>
            <a:off x="3840479" y="1362455"/>
            <a:ext cx="141732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8FAFC"/>
                </a:solidFill>
              </a:defRPr>
            </a:lvl1pPr>
          </a:lstStyle>
          <a:p>
            <a:pPr/>
            <a:r>
              <a:t>Précision</a:t>
            </a:r>
          </a:p>
        </p:txBody>
      </p:sp>
      <p:sp>
        <p:nvSpPr>
          <p:cNvPr id="688" name="Google Shape;720;p21"/>
          <p:cNvSpPr/>
          <p:nvPr/>
        </p:nvSpPr>
        <p:spPr>
          <a:xfrm>
            <a:off x="5303520" y="1325880"/>
            <a:ext cx="1417321" cy="502920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89" name="Google Shape;721;p21"/>
          <p:cNvSpPr txBox="1"/>
          <p:nvPr/>
        </p:nvSpPr>
        <p:spPr>
          <a:xfrm>
            <a:off x="5349240" y="1362455"/>
            <a:ext cx="132588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8FAFC"/>
                </a:solidFill>
              </a:defRPr>
            </a:lvl1pPr>
          </a:lstStyle>
          <a:p>
            <a:pPr/>
            <a:r>
              <a:t>Captés</a:t>
            </a:r>
          </a:p>
        </p:txBody>
      </p:sp>
      <p:sp>
        <p:nvSpPr>
          <p:cNvPr id="690" name="Google Shape;722;p21"/>
          <p:cNvSpPr/>
          <p:nvPr/>
        </p:nvSpPr>
        <p:spPr>
          <a:xfrm>
            <a:off x="6720840" y="1325880"/>
            <a:ext cx="1234441" cy="502920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91" name="Google Shape;723;p21"/>
          <p:cNvSpPr txBox="1"/>
          <p:nvPr/>
        </p:nvSpPr>
        <p:spPr>
          <a:xfrm>
            <a:off x="6766559" y="1362455"/>
            <a:ext cx="114300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8FAFC"/>
                </a:solidFill>
              </a:defRPr>
            </a:lvl1pPr>
          </a:lstStyle>
          <a:p>
            <a:pPr/>
            <a:r>
              <a:t>Lift</a:t>
            </a:r>
          </a:p>
        </p:txBody>
      </p:sp>
      <p:sp>
        <p:nvSpPr>
          <p:cNvPr id="692" name="Google Shape;724;p21"/>
          <p:cNvSpPr/>
          <p:nvPr/>
        </p:nvSpPr>
        <p:spPr>
          <a:xfrm>
            <a:off x="7955280" y="1325880"/>
            <a:ext cx="1783080" cy="502920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93" name="Google Shape;725;p21"/>
          <p:cNvSpPr txBox="1"/>
          <p:nvPr/>
        </p:nvSpPr>
        <p:spPr>
          <a:xfrm>
            <a:off x="8001000" y="1362455"/>
            <a:ext cx="1691640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900">
                <a:solidFill>
                  <a:srgbClr val="F8FAFC"/>
                </a:solidFill>
              </a:defRPr>
            </a:lvl1pPr>
          </a:lstStyle>
          <a:p>
            <a:pPr/>
            <a:r>
              <a:t>Seuil implicite</a:t>
            </a:r>
          </a:p>
        </p:txBody>
      </p:sp>
      <p:sp>
        <p:nvSpPr>
          <p:cNvPr id="694" name="Google Shape;726;p21"/>
          <p:cNvSpPr/>
          <p:nvPr/>
        </p:nvSpPr>
        <p:spPr>
          <a:xfrm>
            <a:off x="640080" y="1828799"/>
            <a:ext cx="1828801" cy="50292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95" name="Google Shape;727;p21"/>
          <p:cNvSpPr txBox="1"/>
          <p:nvPr/>
        </p:nvSpPr>
        <p:spPr>
          <a:xfrm>
            <a:off x="685799" y="1865376"/>
            <a:ext cx="173736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RF</a:t>
            </a:r>
          </a:p>
        </p:txBody>
      </p:sp>
      <p:sp>
        <p:nvSpPr>
          <p:cNvPr id="696" name="Google Shape;728;p21"/>
          <p:cNvSpPr/>
          <p:nvPr/>
        </p:nvSpPr>
        <p:spPr>
          <a:xfrm>
            <a:off x="2468879" y="1828799"/>
            <a:ext cx="1325881" cy="50292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97" name="Google Shape;729;p21"/>
          <p:cNvSpPr txBox="1"/>
          <p:nvPr/>
        </p:nvSpPr>
        <p:spPr>
          <a:xfrm>
            <a:off x="2514599" y="1865376"/>
            <a:ext cx="123444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5 %</a:t>
            </a:r>
          </a:p>
        </p:txBody>
      </p:sp>
      <p:sp>
        <p:nvSpPr>
          <p:cNvPr id="698" name="Google Shape;730;p21"/>
          <p:cNvSpPr/>
          <p:nvPr/>
        </p:nvSpPr>
        <p:spPr>
          <a:xfrm>
            <a:off x="3794759" y="1828799"/>
            <a:ext cx="1508761" cy="50292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699" name="Google Shape;731;p21"/>
          <p:cNvSpPr txBox="1"/>
          <p:nvPr/>
        </p:nvSpPr>
        <p:spPr>
          <a:xfrm>
            <a:off x="3840479" y="1865376"/>
            <a:ext cx="141732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63,5 %</a:t>
            </a:r>
          </a:p>
        </p:txBody>
      </p:sp>
      <p:sp>
        <p:nvSpPr>
          <p:cNvPr id="700" name="Google Shape;732;p21"/>
          <p:cNvSpPr/>
          <p:nvPr/>
        </p:nvSpPr>
        <p:spPr>
          <a:xfrm>
            <a:off x="5303520" y="1828799"/>
            <a:ext cx="1417321" cy="50292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01" name="Google Shape;733;p21"/>
          <p:cNvSpPr txBox="1"/>
          <p:nvPr/>
        </p:nvSpPr>
        <p:spPr>
          <a:xfrm>
            <a:off x="5349240" y="1865376"/>
            <a:ext cx="132588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28,2 %</a:t>
            </a:r>
          </a:p>
        </p:txBody>
      </p:sp>
      <p:sp>
        <p:nvSpPr>
          <p:cNvPr id="702" name="Google Shape;734;p21"/>
          <p:cNvSpPr/>
          <p:nvPr/>
        </p:nvSpPr>
        <p:spPr>
          <a:xfrm>
            <a:off x="6720840" y="1828799"/>
            <a:ext cx="1234441" cy="50292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03" name="Google Shape;735;p21"/>
          <p:cNvSpPr txBox="1"/>
          <p:nvPr/>
        </p:nvSpPr>
        <p:spPr>
          <a:xfrm>
            <a:off x="6766559" y="1865376"/>
            <a:ext cx="114300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5,63×</a:t>
            </a:r>
          </a:p>
        </p:txBody>
      </p:sp>
      <p:sp>
        <p:nvSpPr>
          <p:cNvPr id="704" name="Google Shape;736;p21"/>
          <p:cNvSpPr/>
          <p:nvPr/>
        </p:nvSpPr>
        <p:spPr>
          <a:xfrm>
            <a:off x="7955280" y="1828799"/>
            <a:ext cx="1783080" cy="50292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05" name="Google Shape;737;p21"/>
          <p:cNvSpPr txBox="1"/>
          <p:nvPr/>
        </p:nvSpPr>
        <p:spPr>
          <a:xfrm>
            <a:off x="8001000" y="1865376"/>
            <a:ext cx="1691640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0,465</a:t>
            </a:r>
          </a:p>
        </p:txBody>
      </p:sp>
      <p:sp>
        <p:nvSpPr>
          <p:cNvPr id="706" name="Google Shape;738;p21"/>
          <p:cNvSpPr/>
          <p:nvPr/>
        </p:nvSpPr>
        <p:spPr>
          <a:xfrm>
            <a:off x="640080" y="2331720"/>
            <a:ext cx="182880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07" name="Google Shape;739;p21"/>
          <p:cNvSpPr txBox="1"/>
          <p:nvPr/>
        </p:nvSpPr>
        <p:spPr>
          <a:xfrm>
            <a:off x="685799" y="2368295"/>
            <a:ext cx="173736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RF</a:t>
            </a:r>
          </a:p>
        </p:txBody>
      </p:sp>
      <p:sp>
        <p:nvSpPr>
          <p:cNvPr id="708" name="Google Shape;740;p21"/>
          <p:cNvSpPr/>
          <p:nvPr/>
        </p:nvSpPr>
        <p:spPr>
          <a:xfrm>
            <a:off x="2468879" y="2331720"/>
            <a:ext cx="132588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09" name="Google Shape;741;p21"/>
          <p:cNvSpPr txBox="1"/>
          <p:nvPr/>
        </p:nvSpPr>
        <p:spPr>
          <a:xfrm>
            <a:off x="2514599" y="2368295"/>
            <a:ext cx="123444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10 %</a:t>
            </a:r>
          </a:p>
        </p:txBody>
      </p:sp>
      <p:sp>
        <p:nvSpPr>
          <p:cNvPr id="710" name="Google Shape;742;p21"/>
          <p:cNvSpPr/>
          <p:nvPr/>
        </p:nvSpPr>
        <p:spPr>
          <a:xfrm>
            <a:off x="3794759" y="2331720"/>
            <a:ext cx="150876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11" name="Google Shape;743;p21"/>
          <p:cNvSpPr txBox="1"/>
          <p:nvPr/>
        </p:nvSpPr>
        <p:spPr>
          <a:xfrm>
            <a:off x="3840479" y="2368295"/>
            <a:ext cx="141732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50,7 %</a:t>
            </a:r>
          </a:p>
        </p:txBody>
      </p:sp>
      <p:sp>
        <p:nvSpPr>
          <p:cNvPr id="712" name="Google Shape;744;p21"/>
          <p:cNvSpPr/>
          <p:nvPr/>
        </p:nvSpPr>
        <p:spPr>
          <a:xfrm>
            <a:off x="5303520" y="2331720"/>
            <a:ext cx="141732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13" name="Google Shape;745;p21"/>
          <p:cNvSpPr txBox="1"/>
          <p:nvPr/>
        </p:nvSpPr>
        <p:spPr>
          <a:xfrm>
            <a:off x="5349240" y="2368295"/>
            <a:ext cx="132588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45,0 %</a:t>
            </a:r>
          </a:p>
        </p:txBody>
      </p:sp>
      <p:sp>
        <p:nvSpPr>
          <p:cNvPr id="714" name="Google Shape;746;p21"/>
          <p:cNvSpPr/>
          <p:nvPr/>
        </p:nvSpPr>
        <p:spPr>
          <a:xfrm>
            <a:off x="6720840" y="2331720"/>
            <a:ext cx="123444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15" name="Google Shape;747;p21"/>
          <p:cNvSpPr txBox="1"/>
          <p:nvPr/>
        </p:nvSpPr>
        <p:spPr>
          <a:xfrm>
            <a:off x="6766559" y="2368295"/>
            <a:ext cx="114300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4,50×</a:t>
            </a:r>
          </a:p>
        </p:txBody>
      </p:sp>
      <p:sp>
        <p:nvSpPr>
          <p:cNvPr id="716" name="Google Shape;748;p21"/>
          <p:cNvSpPr/>
          <p:nvPr/>
        </p:nvSpPr>
        <p:spPr>
          <a:xfrm>
            <a:off x="7955280" y="2331720"/>
            <a:ext cx="1783080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17" name="Google Shape;749;p21"/>
          <p:cNvSpPr txBox="1"/>
          <p:nvPr/>
        </p:nvSpPr>
        <p:spPr>
          <a:xfrm>
            <a:off x="8001000" y="2368295"/>
            <a:ext cx="1691640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0,319</a:t>
            </a:r>
          </a:p>
        </p:txBody>
      </p:sp>
      <p:sp>
        <p:nvSpPr>
          <p:cNvPr id="718" name="Google Shape;750;p21"/>
          <p:cNvSpPr/>
          <p:nvPr/>
        </p:nvSpPr>
        <p:spPr>
          <a:xfrm>
            <a:off x="640080" y="2834639"/>
            <a:ext cx="182880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19" name="Google Shape;751;p21"/>
          <p:cNvSpPr txBox="1"/>
          <p:nvPr/>
        </p:nvSpPr>
        <p:spPr>
          <a:xfrm>
            <a:off x="685799" y="2871216"/>
            <a:ext cx="173736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RF</a:t>
            </a:r>
          </a:p>
        </p:txBody>
      </p:sp>
      <p:sp>
        <p:nvSpPr>
          <p:cNvPr id="720" name="Google Shape;752;p21"/>
          <p:cNvSpPr/>
          <p:nvPr/>
        </p:nvSpPr>
        <p:spPr>
          <a:xfrm>
            <a:off x="2468879" y="2834639"/>
            <a:ext cx="132588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21" name="Google Shape;753;p21"/>
          <p:cNvSpPr txBox="1"/>
          <p:nvPr/>
        </p:nvSpPr>
        <p:spPr>
          <a:xfrm>
            <a:off x="2514599" y="2871216"/>
            <a:ext cx="123444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20 %</a:t>
            </a:r>
          </a:p>
        </p:txBody>
      </p:sp>
      <p:sp>
        <p:nvSpPr>
          <p:cNvPr id="722" name="Google Shape;754;p21"/>
          <p:cNvSpPr/>
          <p:nvPr/>
        </p:nvSpPr>
        <p:spPr>
          <a:xfrm>
            <a:off x="3794759" y="2834639"/>
            <a:ext cx="150876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23" name="Google Shape;755;p21"/>
          <p:cNvSpPr txBox="1"/>
          <p:nvPr/>
        </p:nvSpPr>
        <p:spPr>
          <a:xfrm>
            <a:off x="3840479" y="2871216"/>
            <a:ext cx="141732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35,8 %</a:t>
            </a:r>
          </a:p>
        </p:txBody>
      </p:sp>
      <p:sp>
        <p:nvSpPr>
          <p:cNvPr id="724" name="Google Shape;756;p21"/>
          <p:cNvSpPr/>
          <p:nvPr/>
        </p:nvSpPr>
        <p:spPr>
          <a:xfrm>
            <a:off x="5303520" y="2834639"/>
            <a:ext cx="141732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25" name="Google Shape;757;p21"/>
          <p:cNvSpPr txBox="1"/>
          <p:nvPr/>
        </p:nvSpPr>
        <p:spPr>
          <a:xfrm>
            <a:off x="5349240" y="2871216"/>
            <a:ext cx="132588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63,5 %</a:t>
            </a:r>
          </a:p>
        </p:txBody>
      </p:sp>
      <p:sp>
        <p:nvSpPr>
          <p:cNvPr id="726" name="Google Shape;758;p21"/>
          <p:cNvSpPr/>
          <p:nvPr/>
        </p:nvSpPr>
        <p:spPr>
          <a:xfrm>
            <a:off x="6720840" y="2834639"/>
            <a:ext cx="123444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27" name="Google Shape;759;p21"/>
          <p:cNvSpPr txBox="1"/>
          <p:nvPr/>
        </p:nvSpPr>
        <p:spPr>
          <a:xfrm>
            <a:off x="6766559" y="2871216"/>
            <a:ext cx="114300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3,18×</a:t>
            </a:r>
          </a:p>
        </p:txBody>
      </p:sp>
      <p:sp>
        <p:nvSpPr>
          <p:cNvPr id="728" name="Google Shape;760;p21"/>
          <p:cNvSpPr/>
          <p:nvPr/>
        </p:nvSpPr>
        <p:spPr>
          <a:xfrm>
            <a:off x="7955280" y="2834639"/>
            <a:ext cx="1783080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29" name="Google Shape;761;p21"/>
          <p:cNvSpPr txBox="1"/>
          <p:nvPr/>
        </p:nvSpPr>
        <p:spPr>
          <a:xfrm>
            <a:off x="8001000" y="2871216"/>
            <a:ext cx="1691640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0,103</a:t>
            </a:r>
          </a:p>
        </p:txBody>
      </p:sp>
      <p:sp>
        <p:nvSpPr>
          <p:cNvPr id="730" name="Google Shape;762;p21"/>
          <p:cNvSpPr/>
          <p:nvPr/>
        </p:nvSpPr>
        <p:spPr>
          <a:xfrm>
            <a:off x="640080" y="3337559"/>
            <a:ext cx="182880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1" name="Google Shape;763;p21"/>
          <p:cNvSpPr txBox="1"/>
          <p:nvPr/>
        </p:nvSpPr>
        <p:spPr>
          <a:xfrm>
            <a:off x="685799" y="3374135"/>
            <a:ext cx="173736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RF</a:t>
            </a:r>
          </a:p>
        </p:txBody>
      </p:sp>
      <p:sp>
        <p:nvSpPr>
          <p:cNvPr id="732" name="Google Shape;764;p21"/>
          <p:cNvSpPr/>
          <p:nvPr/>
        </p:nvSpPr>
        <p:spPr>
          <a:xfrm>
            <a:off x="2468879" y="3337559"/>
            <a:ext cx="132588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3" name="Google Shape;765;p21"/>
          <p:cNvSpPr txBox="1"/>
          <p:nvPr/>
        </p:nvSpPr>
        <p:spPr>
          <a:xfrm>
            <a:off x="2514599" y="3374135"/>
            <a:ext cx="123444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30 %</a:t>
            </a:r>
          </a:p>
        </p:txBody>
      </p:sp>
      <p:sp>
        <p:nvSpPr>
          <p:cNvPr id="734" name="Google Shape;766;p21"/>
          <p:cNvSpPr/>
          <p:nvPr/>
        </p:nvSpPr>
        <p:spPr>
          <a:xfrm>
            <a:off x="3794759" y="3337559"/>
            <a:ext cx="150876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5" name="Google Shape;767;p21"/>
          <p:cNvSpPr txBox="1"/>
          <p:nvPr/>
        </p:nvSpPr>
        <p:spPr>
          <a:xfrm>
            <a:off x="3840479" y="3374135"/>
            <a:ext cx="141732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26,6 %</a:t>
            </a:r>
          </a:p>
        </p:txBody>
      </p:sp>
      <p:sp>
        <p:nvSpPr>
          <p:cNvPr id="736" name="Google Shape;768;p21"/>
          <p:cNvSpPr/>
          <p:nvPr/>
        </p:nvSpPr>
        <p:spPr>
          <a:xfrm>
            <a:off x="5303520" y="3337559"/>
            <a:ext cx="141732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7" name="Google Shape;769;p21"/>
          <p:cNvSpPr txBox="1"/>
          <p:nvPr/>
        </p:nvSpPr>
        <p:spPr>
          <a:xfrm>
            <a:off x="5349240" y="3374135"/>
            <a:ext cx="132588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70,9 %</a:t>
            </a:r>
          </a:p>
        </p:txBody>
      </p:sp>
      <p:sp>
        <p:nvSpPr>
          <p:cNvPr id="738" name="Google Shape;770;p21"/>
          <p:cNvSpPr/>
          <p:nvPr/>
        </p:nvSpPr>
        <p:spPr>
          <a:xfrm>
            <a:off x="6720840" y="3337559"/>
            <a:ext cx="123444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9" name="Google Shape;771;p21"/>
          <p:cNvSpPr txBox="1"/>
          <p:nvPr/>
        </p:nvSpPr>
        <p:spPr>
          <a:xfrm>
            <a:off x="6766559" y="3374135"/>
            <a:ext cx="114300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2,36×</a:t>
            </a:r>
          </a:p>
        </p:txBody>
      </p:sp>
      <p:sp>
        <p:nvSpPr>
          <p:cNvPr id="740" name="Google Shape;772;p21"/>
          <p:cNvSpPr/>
          <p:nvPr/>
        </p:nvSpPr>
        <p:spPr>
          <a:xfrm>
            <a:off x="7955280" y="3337559"/>
            <a:ext cx="1783080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41" name="Google Shape;773;p21"/>
          <p:cNvSpPr txBox="1"/>
          <p:nvPr/>
        </p:nvSpPr>
        <p:spPr>
          <a:xfrm>
            <a:off x="8001000" y="3374135"/>
            <a:ext cx="1691640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0,074</a:t>
            </a:r>
          </a:p>
        </p:txBody>
      </p:sp>
      <p:sp>
        <p:nvSpPr>
          <p:cNvPr id="742" name="Google Shape;774;p21"/>
          <p:cNvSpPr/>
          <p:nvPr/>
        </p:nvSpPr>
        <p:spPr>
          <a:xfrm>
            <a:off x="640080" y="3840479"/>
            <a:ext cx="182880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43" name="Google Shape;775;p21"/>
          <p:cNvSpPr txBox="1"/>
          <p:nvPr/>
        </p:nvSpPr>
        <p:spPr>
          <a:xfrm>
            <a:off x="685799" y="3877055"/>
            <a:ext cx="173736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GB</a:t>
            </a:r>
          </a:p>
        </p:txBody>
      </p:sp>
      <p:sp>
        <p:nvSpPr>
          <p:cNvPr id="744" name="Google Shape;776;p21"/>
          <p:cNvSpPr/>
          <p:nvPr/>
        </p:nvSpPr>
        <p:spPr>
          <a:xfrm>
            <a:off x="2468879" y="3840479"/>
            <a:ext cx="132588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45" name="Google Shape;777;p21"/>
          <p:cNvSpPr txBox="1"/>
          <p:nvPr/>
        </p:nvSpPr>
        <p:spPr>
          <a:xfrm>
            <a:off x="2514599" y="3877055"/>
            <a:ext cx="123444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5 %</a:t>
            </a:r>
          </a:p>
        </p:txBody>
      </p:sp>
      <p:sp>
        <p:nvSpPr>
          <p:cNvPr id="746" name="Google Shape;778;p21"/>
          <p:cNvSpPr/>
          <p:nvPr/>
        </p:nvSpPr>
        <p:spPr>
          <a:xfrm>
            <a:off x="3794759" y="3840479"/>
            <a:ext cx="150876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47" name="Google Shape;779;p21"/>
          <p:cNvSpPr txBox="1"/>
          <p:nvPr/>
        </p:nvSpPr>
        <p:spPr>
          <a:xfrm>
            <a:off x="3840479" y="3877055"/>
            <a:ext cx="141732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63,8 %</a:t>
            </a:r>
          </a:p>
        </p:txBody>
      </p:sp>
      <p:sp>
        <p:nvSpPr>
          <p:cNvPr id="748" name="Google Shape;780;p21"/>
          <p:cNvSpPr/>
          <p:nvPr/>
        </p:nvSpPr>
        <p:spPr>
          <a:xfrm>
            <a:off x="5303520" y="3840479"/>
            <a:ext cx="141732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49" name="Google Shape;781;p21"/>
          <p:cNvSpPr txBox="1"/>
          <p:nvPr/>
        </p:nvSpPr>
        <p:spPr>
          <a:xfrm>
            <a:off x="5349240" y="3877055"/>
            <a:ext cx="132588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28,3 %</a:t>
            </a:r>
          </a:p>
        </p:txBody>
      </p:sp>
      <p:sp>
        <p:nvSpPr>
          <p:cNvPr id="750" name="Google Shape;782;p21"/>
          <p:cNvSpPr/>
          <p:nvPr/>
        </p:nvSpPr>
        <p:spPr>
          <a:xfrm>
            <a:off x="6720840" y="3840479"/>
            <a:ext cx="123444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51" name="Google Shape;783;p21"/>
          <p:cNvSpPr txBox="1"/>
          <p:nvPr/>
        </p:nvSpPr>
        <p:spPr>
          <a:xfrm>
            <a:off x="6766559" y="3877055"/>
            <a:ext cx="114300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5,66×</a:t>
            </a:r>
          </a:p>
        </p:txBody>
      </p:sp>
      <p:sp>
        <p:nvSpPr>
          <p:cNvPr id="752" name="Google Shape;784;p21"/>
          <p:cNvSpPr/>
          <p:nvPr/>
        </p:nvSpPr>
        <p:spPr>
          <a:xfrm>
            <a:off x="7955280" y="3840479"/>
            <a:ext cx="1783080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53" name="Google Shape;785;p21"/>
          <p:cNvSpPr txBox="1"/>
          <p:nvPr/>
        </p:nvSpPr>
        <p:spPr>
          <a:xfrm>
            <a:off x="8001000" y="3877055"/>
            <a:ext cx="1691640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0,455</a:t>
            </a:r>
          </a:p>
        </p:txBody>
      </p:sp>
      <p:sp>
        <p:nvSpPr>
          <p:cNvPr id="754" name="Google Shape;786;p21"/>
          <p:cNvSpPr/>
          <p:nvPr/>
        </p:nvSpPr>
        <p:spPr>
          <a:xfrm>
            <a:off x="640080" y="4343399"/>
            <a:ext cx="1828801" cy="50292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55" name="Google Shape;787;p21"/>
          <p:cNvSpPr txBox="1"/>
          <p:nvPr/>
        </p:nvSpPr>
        <p:spPr>
          <a:xfrm>
            <a:off x="685799" y="4379976"/>
            <a:ext cx="173736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GB</a:t>
            </a:r>
          </a:p>
        </p:txBody>
      </p:sp>
      <p:sp>
        <p:nvSpPr>
          <p:cNvPr id="756" name="Google Shape;788;p21"/>
          <p:cNvSpPr/>
          <p:nvPr/>
        </p:nvSpPr>
        <p:spPr>
          <a:xfrm>
            <a:off x="2468879" y="4343399"/>
            <a:ext cx="1325881" cy="50292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57" name="Google Shape;789;p21"/>
          <p:cNvSpPr txBox="1"/>
          <p:nvPr/>
        </p:nvSpPr>
        <p:spPr>
          <a:xfrm>
            <a:off x="2514599" y="4379976"/>
            <a:ext cx="123444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10 %</a:t>
            </a:r>
          </a:p>
        </p:txBody>
      </p:sp>
      <p:sp>
        <p:nvSpPr>
          <p:cNvPr id="758" name="Google Shape;790;p21"/>
          <p:cNvSpPr/>
          <p:nvPr/>
        </p:nvSpPr>
        <p:spPr>
          <a:xfrm>
            <a:off x="3794759" y="4343399"/>
            <a:ext cx="1508761" cy="50292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59" name="Google Shape;791;p21"/>
          <p:cNvSpPr txBox="1"/>
          <p:nvPr/>
        </p:nvSpPr>
        <p:spPr>
          <a:xfrm>
            <a:off x="3840479" y="4379976"/>
            <a:ext cx="141732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50,9 %</a:t>
            </a:r>
          </a:p>
        </p:txBody>
      </p:sp>
      <p:sp>
        <p:nvSpPr>
          <p:cNvPr id="760" name="Google Shape;792;p21"/>
          <p:cNvSpPr/>
          <p:nvPr/>
        </p:nvSpPr>
        <p:spPr>
          <a:xfrm>
            <a:off x="5303520" y="4343399"/>
            <a:ext cx="1417321" cy="50292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61" name="Google Shape;793;p21"/>
          <p:cNvSpPr txBox="1"/>
          <p:nvPr/>
        </p:nvSpPr>
        <p:spPr>
          <a:xfrm>
            <a:off x="5349240" y="4379976"/>
            <a:ext cx="132588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45,2 %</a:t>
            </a:r>
          </a:p>
        </p:txBody>
      </p:sp>
      <p:sp>
        <p:nvSpPr>
          <p:cNvPr id="762" name="Google Shape;794;p21"/>
          <p:cNvSpPr/>
          <p:nvPr/>
        </p:nvSpPr>
        <p:spPr>
          <a:xfrm>
            <a:off x="6720840" y="4343399"/>
            <a:ext cx="1234441" cy="50292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63" name="Google Shape;795;p21"/>
          <p:cNvSpPr txBox="1"/>
          <p:nvPr/>
        </p:nvSpPr>
        <p:spPr>
          <a:xfrm>
            <a:off x="6766559" y="4379976"/>
            <a:ext cx="114300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4,52×</a:t>
            </a:r>
          </a:p>
        </p:txBody>
      </p:sp>
      <p:sp>
        <p:nvSpPr>
          <p:cNvPr id="764" name="Google Shape;796;p21"/>
          <p:cNvSpPr/>
          <p:nvPr/>
        </p:nvSpPr>
        <p:spPr>
          <a:xfrm>
            <a:off x="7955280" y="4343399"/>
            <a:ext cx="1783080" cy="50292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65" name="Google Shape;797;p21"/>
          <p:cNvSpPr txBox="1"/>
          <p:nvPr/>
        </p:nvSpPr>
        <p:spPr>
          <a:xfrm>
            <a:off x="8001000" y="4379976"/>
            <a:ext cx="1691640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0,319</a:t>
            </a:r>
          </a:p>
        </p:txBody>
      </p:sp>
      <p:sp>
        <p:nvSpPr>
          <p:cNvPr id="766" name="Google Shape;798;p21"/>
          <p:cNvSpPr/>
          <p:nvPr/>
        </p:nvSpPr>
        <p:spPr>
          <a:xfrm>
            <a:off x="640080" y="4846320"/>
            <a:ext cx="182880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67" name="Google Shape;799;p21"/>
          <p:cNvSpPr txBox="1"/>
          <p:nvPr/>
        </p:nvSpPr>
        <p:spPr>
          <a:xfrm>
            <a:off x="685799" y="4882896"/>
            <a:ext cx="173736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GB</a:t>
            </a:r>
          </a:p>
        </p:txBody>
      </p:sp>
      <p:sp>
        <p:nvSpPr>
          <p:cNvPr id="768" name="Google Shape;800;p21"/>
          <p:cNvSpPr/>
          <p:nvPr/>
        </p:nvSpPr>
        <p:spPr>
          <a:xfrm>
            <a:off x="2468879" y="4846320"/>
            <a:ext cx="132588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69" name="Google Shape;801;p21"/>
          <p:cNvSpPr txBox="1"/>
          <p:nvPr/>
        </p:nvSpPr>
        <p:spPr>
          <a:xfrm>
            <a:off x="2514599" y="4882896"/>
            <a:ext cx="123444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20 %</a:t>
            </a:r>
          </a:p>
        </p:txBody>
      </p:sp>
      <p:sp>
        <p:nvSpPr>
          <p:cNvPr id="770" name="Google Shape;802;p21"/>
          <p:cNvSpPr/>
          <p:nvPr/>
        </p:nvSpPr>
        <p:spPr>
          <a:xfrm>
            <a:off x="3794759" y="4846320"/>
            <a:ext cx="150876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71" name="Google Shape;803;p21"/>
          <p:cNvSpPr txBox="1"/>
          <p:nvPr/>
        </p:nvSpPr>
        <p:spPr>
          <a:xfrm>
            <a:off x="3840479" y="4882896"/>
            <a:ext cx="141732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35,4 %</a:t>
            </a:r>
          </a:p>
        </p:txBody>
      </p:sp>
      <p:sp>
        <p:nvSpPr>
          <p:cNvPr id="772" name="Google Shape;804;p21"/>
          <p:cNvSpPr/>
          <p:nvPr/>
        </p:nvSpPr>
        <p:spPr>
          <a:xfrm>
            <a:off x="5303520" y="4846320"/>
            <a:ext cx="141732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73" name="Google Shape;805;p21"/>
          <p:cNvSpPr txBox="1"/>
          <p:nvPr/>
        </p:nvSpPr>
        <p:spPr>
          <a:xfrm>
            <a:off x="5349240" y="4882896"/>
            <a:ext cx="132588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62,8 %</a:t>
            </a:r>
          </a:p>
        </p:txBody>
      </p:sp>
      <p:sp>
        <p:nvSpPr>
          <p:cNvPr id="774" name="Google Shape;806;p21"/>
          <p:cNvSpPr/>
          <p:nvPr/>
        </p:nvSpPr>
        <p:spPr>
          <a:xfrm>
            <a:off x="6720840" y="4846320"/>
            <a:ext cx="1234441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75" name="Google Shape;807;p21"/>
          <p:cNvSpPr txBox="1"/>
          <p:nvPr/>
        </p:nvSpPr>
        <p:spPr>
          <a:xfrm>
            <a:off x="6766559" y="4882896"/>
            <a:ext cx="114300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3,14×</a:t>
            </a:r>
          </a:p>
        </p:txBody>
      </p:sp>
      <p:sp>
        <p:nvSpPr>
          <p:cNvPr id="776" name="Google Shape;808;p21"/>
          <p:cNvSpPr/>
          <p:nvPr/>
        </p:nvSpPr>
        <p:spPr>
          <a:xfrm>
            <a:off x="7955280" y="4846320"/>
            <a:ext cx="1783080" cy="50292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77" name="Google Shape;809;p21"/>
          <p:cNvSpPr txBox="1"/>
          <p:nvPr/>
        </p:nvSpPr>
        <p:spPr>
          <a:xfrm>
            <a:off x="8001000" y="4882896"/>
            <a:ext cx="1691640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0,109</a:t>
            </a:r>
          </a:p>
        </p:txBody>
      </p:sp>
      <p:sp>
        <p:nvSpPr>
          <p:cNvPr id="778" name="Google Shape;810;p21"/>
          <p:cNvSpPr/>
          <p:nvPr/>
        </p:nvSpPr>
        <p:spPr>
          <a:xfrm>
            <a:off x="640080" y="5349240"/>
            <a:ext cx="182880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79" name="Google Shape;811;p21"/>
          <p:cNvSpPr txBox="1"/>
          <p:nvPr/>
        </p:nvSpPr>
        <p:spPr>
          <a:xfrm>
            <a:off x="685799" y="5385815"/>
            <a:ext cx="173736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GB</a:t>
            </a:r>
          </a:p>
        </p:txBody>
      </p:sp>
      <p:sp>
        <p:nvSpPr>
          <p:cNvPr id="780" name="Google Shape;812;p21"/>
          <p:cNvSpPr/>
          <p:nvPr/>
        </p:nvSpPr>
        <p:spPr>
          <a:xfrm>
            <a:off x="2468879" y="5349240"/>
            <a:ext cx="132588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81" name="Google Shape;813;p21"/>
          <p:cNvSpPr txBox="1"/>
          <p:nvPr/>
        </p:nvSpPr>
        <p:spPr>
          <a:xfrm>
            <a:off x="2514599" y="5385815"/>
            <a:ext cx="1234442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30 %</a:t>
            </a:r>
          </a:p>
        </p:txBody>
      </p:sp>
      <p:sp>
        <p:nvSpPr>
          <p:cNvPr id="782" name="Google Shape;814;p21"/>
          <p:cNvSpPr/>
          <p:nvPr/>
        </p:nvSpPr>
        <p:spPr>
          <a:xfrm>
            <a:off x="3794759" y="5349240"/>
            <a:ext cx="150876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83" name="Google Shape;815;p21"/>
          <p:cNvSpPr txBox="1"/>
          <p:nvPr/>
        </p:nvSpPr>
        <p:spPr>
          <a:xfrm>
            <a:off x="3840479" y="5385815"/>
            <a:ext cx="141732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26,5 %</a:t>
            </a:r>
          </a:p>
        </p:txBody>
      </p:sp>
      <p:sp>
        <p:nvSpPr>
          <p:cNvPr id="784" name="Google Shape;816;p21"/>
          <p:cNvSpPr/>
          <p:nvPr/>
        </p:nvSpPr>
        <p:spPr>
          <a:xfrm>
            <a:off x="5303520" y="5349240"/>
            <a:ext cx="141732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85" name="Google Shape;817;p21"/>
          <p:cNvSpPr txBox="1"/>
          <p:nvPr/>
        </p:nvSpPr>
        <p:spPr>
          <a:xfrm>
            <a:off x="5349240" y="5385815"/>
            <a:ext cx="132588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70,6 %</a:t>
            </a:r>
          </a:p>
        </p:txBody>
      </p:sp>
      <p:sp>
        <p:nvSpPr>
          <p:cNvPr id="786" name="Google Shape;818;p21"/>
          <p:cNvSpPr/>
          <p:nvPr/>
        </p:nvSpPr>
        <p:spPr>
          <a:xfrm>
            <a:off x="6720840" y="5349240"/>
            <a:ext cx="1234441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87" name="Google Shape;819;p21"/>
          <p:cNvSpPr txBox="1"/>
          <p:nvPr/>
        </p:nvSpPr>
        <p:spPr>
          <a:xfrm>
            <a:off x="6766559" y="5385815"/>
            <a:ext cx="1143001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2,35×</a:t>
            </a:r>
          </a:p>
        </p:txBody>
      </p:sp>
      <p:sp>
        <p:nvSpPr>
          <p:cNvPr id="788" name="Google Shape;820;p21"/>
          <p:cNvSpPr/>
          <p:nvPr/>
        </p:nvSpPr>
        <p:spPr>
          <a:xfrm>
            <a:off x="7955280" y="5349240"/>
            <a:ext cx="1783080" cy="502920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89" name="Google Shape;821;p21"/>
          <p:cNvSpPr txBox="1"/>
          <p:nvPr/>
        </p:nvSpPr>
        <p:spPr>
          <a:xfrm>
            <a:off x="8001000" y="5385815"/>
            <a:ext cx="1691640" cy="429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0,071</a:t>
            </a:r>
          </a:p>
        </p:txBody>
      </p:sp>
      <p:sp>
        <p:nvSpPr>
          <p:cNvPr id="790" name="Google Shape;822;p21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828;p22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Annexe — Erreurs par tranche d’âge</a:t>
            </a:r>
          </a:p>
        </p:txBody>
      </p:sp>
      <p:sp>
        <p:nvSpPr>
          <p:cNvPr id="793" name="Google Shape;829;p22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Seuil 0,5, pour analyser le comportement du classifieur</a:t>
            </a:r>
          </a:p>
        </p:txBody>
      </p:sp>
      <p:sp>
        <p:nvSpPr>
          <p:cNvPr id="794" name="Google Shape;830;p22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95" name="Google Shape;831;p22"/>
          <p:cNvSpPr/>
          <p:nvPr/>
        </p:nvSpPr>
        <p:spPr>
          <a:xfrm>
            <a:off x="777239" y="1371600"/>
            <a:ext cx="1554482" cy="670560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96" name="Google Shape;832;p22"/>
          <p:cNvSpPr txBox="1"/>
          <p:nvPr/>
        </p:nvSpPr>
        <p:spPr>
          <a:xfrm>
            <a:off x="822960" y="1408175"/>
            <a:ext cx="146304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Âge</a:t>
            </a:r>
          </a:p>
        </p:txBody>
      </p:sp>
      <p:sp>
        <p:nvSpPr>
          <p:cNvPr id="797" name="Google Shape;833;p22"/>
          <p:cNvSpPr/>
          <p:nvPr/>
        </p:nvSpPr>
        <p:spPr>
          <a:xfrm>
            <a:off x="2331720" y="1371600"/>
            <a:ext cx="1005840" cy="670560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98" name="Google Shape;834;p22"/>
          <p:cNvSpPr txBox="1"/>
          <p:nvPr/>
        </p:nvSpPr>
        <p:spPr>
          <a:xfrm>
            <a:off x="2377439" y="1408175"/>
            <a:ext cx="9144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799" name="Google Shape;835;p22"/>
          <p:cNvSpPr/>
          <p:nvPr/>
        </p:nvSpPr>
        <p:spPr>
          <a:xfrm>
            <a:off x="3337559" y="1371600"/>
            <a:ext cx="1234441" cy="670560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00" name="Google Shape;836;p22"/>
          <p:cNvSpPr txBox="1"/>
          <p:nvPr/>
        </p:nvSpPr>
        <p:spPr>
          <a:xfrm>
            <a:off x="3383279" y="1408175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FNR</a:t>
            </a:r>
          </a:p>
        </p:txBody>
      </p:sp>
      <p:sp>
        <p:nvSpPr>
          <p:cNvPr id="801" name="Google Shape;837;p22"/>
          <p:cNvSpPr/>
          <p:nvPr/>
        </p:nvSpPr>
        <p:spPr>
          <a:xfrm>
            <a:off x="4571999" y="1371600"/>
            <a:ext cx="1234442" cy="670560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02" name="Google Shape;838;p22"/>
          <p:cNvSpPr txBox="1"/>
          <p:nvPr/>
        </p:nvSpPr>
        <p:spPr>
          <a:xfrm>
            <a:off x="4617720" y="1408175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FPR</a:t>
            </a:r>
          </a:p>
        </p:txBody>
      </p:sp>
      <p:sp>
        <p:nvSpPr>
          <p:cNvPr id="803" name="Google Shape;839;p22"/>
          <p:cNvSpPr/>
          <p:nvPr/>
        </p:nvSpPr>
        <p:spPr>
          <a:xfrm>
            <a:off x="777239" y="2042160"/>
            <a:ext cx="1554482" cy="6705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04" name="Google Shape;840;p22"/>
          <p:cNvSpPr txBox="1"/>
          <p:nvPr/>
        </p:nvSpPr>
        <p:spPr>
          <a:xfrm>
            <a:off x="822960" y="2078735"/>
            <a:ext cx="146304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&lt;30</a:t>
            </a:r>
          </a:p>
        </p:txBody>
      </p:sp>
      <p:sp>
        <p:nvSpPr>
          <p:cNvPr id="805" name="Google Shape;841;p22"/>
          <p:cNvSpPr/>
          <p:nvPr/>
        </p:nvSpPr>
        <p:spPr>
          <a:xfrm>
            <a:off x="2331720" y="2042160"/>
            <a:ext cx="1005840" cy="6705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06" name="Google Shape;842;p22"/>
          <p:cNvSpPr txBox="1"/>
          <p:nvPr/>
        </p:nvSpPr>
        <p:spPr>
          <a:xfrm>
            <a:off x="2377439" y="2078735"/>
            <a:ext cx="9144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1 095</a:t>
            </a:r>
          </a:p>
        </p:txBody>
      </p:sp>
      <p:sp>
        <p:nvSpPr>
          <p:cNvPr id="807" name="Google Shape;843;p22"/>
          <p:cNvSpPr/>
          <p:nvPr/>
        </p:nvSpPr>
        <p:spPr>
          <a:xfrm>
            <a:off x="3337559" y="2042160"/>
            <a:ext cx="1234441" cy="6705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08" name="Google Shape;844;p22"/>
          <p:cNvSpPr txBox="1"/>
          <p:nvPr/>
        </p:nvSpPr>
        <p:spPr>
          <a:xfrm>
            <a:off x="3383279" y="2078735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72,5 %</a:t>
            </a:r>
          </a:p>
        </p:txBody>
      </p:sp>
      <p:sp>
        <p:nvSpPr>
          <p:cNvPr id="809" name="Google Shape;845;p22"/>
          <p:cNvSpPr/>
          <p:nvPr/>
        </p:nvSpPr>
        <p:spPr>
          <a:xfrm>
            <a:off x="4571999" y="2042160"/>
            <a:ext cx="1234442" cy="6705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10" name="Google Shape;846;p22"/>
          <p:cNvSpPr txBox="1"/>
          <p:nvPr/>
        </p:nvSpPr>
        <p:spPr>
          <a:xfrm>
            <a:off x="4617720" y="2078735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2,2 %</a:t>
            </a:r>
          </a:p>
        </p:txBody>
      </p:sp>
      <p:sp>
        <p:nvSpPr>
          <p:cNvPr id="811" name="Google Shape;847;p22"/>
          <p:cNvSpPr/>
          <p:nvPr/>
        </p:nvSpPr>
        <p:spPr>
          <a:xfrm>
            <a:off x="777239" y="2712720"/>
            <a:ext cx="1554482" cy="6705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12" name="Google Shape;848;p22"/>
          <p:cNvSpPr txBox="1"/>
          <p:nvPr/>
        </p:nvSpPr>
        <p:spPr>
          <a:xfrm>
            <a:off x="822960" y="2749295"/>
            <a:ext cx="146304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30–39</a:t>
            </a:r>
          </a:p>
        </p:txBody>
      </p:sp>
      <p:sp>
        <p:nvSpPr>
          <p:cNvPr id="813" name="Google Shape;849;p22"/>
          <p:cNvSpPr/>
          <p:nvPr/>
        </p:nvSpPr>
        <p:spPr>
          <a:xfrm>
            <a:off x="2331720" y="2712720"/>
            <a:ext cx="1005840" cy="6705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14" name="Google Shape;850;p22"/>
          <p:cNvSpPr txBox="1"/>
          <p:nvPr/>
        </p:nvSpPr>
        <p:spPr>
          <a:xfrm>
            <a:off x="2377439" y="2749295"/>
            <a:ext cx="9144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3 452</a:t>
            </a:r>
          </a:p>
        </p:txBody>
      </p:sp>
      <p:sp>
        <p:nvSpPr>
          <p:cNvPr id="815" name="Google Shape;851;p22"/>
          <p:cNvSpPr/>
          <p:nvPr/>
        </p:nvSpPr>
        <p:spPr>
          <a:xfrm>
            <a:off x="3337559" y="2712720"/>
            <a:ext cx="1234441" cy="6705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16" name="Google Shape;852;p22"/>
          <p:cNvSpPr txBox="1"/>
          <p:nvPr/>
        </p:nvSpPr>
        <p:spPr>
          <a:xfrm>
            <a:off x="3383279" y="2749295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80,3 %</a:t>
            </a:r>
          </a:p>
        </p:txBody>
      </p:sp>
      <p:sp>
        <p:nvSpPr>
          <p:cNvPr id="817" name="Google Shape;853;p22"/>
          <p:cNvSpPr/>
          <p:nvPr/>
        </p:nvSpPr>
        <p:spPr>
          <a:xfrm>
            <a:off x="4571999" y="2712720"/>
            <a:ext cx="1234442" cy="6705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18" name="Google Shape;854;p22"/>
          <p:cNvSpPr txBox="1"/>
          <p:nvPr/>
        </p:nvSpPr>
        <p:spPr>
          <a:xfrm>
            <a:off x="4617720" y="2749295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1,3 %</a:t>
            </a:r>
          </a:p>
        </p:txBody>
      </p:sp>
      <p:sp>
        <p:nvSpPr>
          <p:cNvPr id="819" name="Google Shape;855;p22"/>
          <p:cNvSpPr/>
          <p:nvPr/>
        </p:nvSpPr>
        <p:spPr>
          <a:xfrm>
            <a:off x="777239" y="3383279"/>
            <a:ext cx="1554482" cy="6705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20" name="Google Shape;856;p22"/>
          <p:cNvSpPr txBox="1"/>
          <p:nvPr/>
        </p:nvSpPr>
        <p:spPr>
          <a:xfrm>
            <a:off x="822960" y="3419855"/>
            <a:ext cx="146304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40–49</a:t>
            </a:r>
          </a:p>
        </p:txBody>
      </p:sp>
      <p:sp>
        <p:nvSpPr>
          <p:cNvPr id="821" name="Google Shape;857;p22"/>
          <p:cNvSpPr/>
          <p:nvPr/>
        </p:nvSpPr>
        <p:spPr>
          <a:xfrm>
            <a:off x="2331720" y="3383279"/>
            <a:ext cx="1005840" cy="6705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22" name="Google Shape;858;p22"/>
          <p:cNvSpPr txBox="1"/>
          <p:nvPr/>
        </p:nvSpPr>
        <p:spPr>
          <a:xfrm>
            <a:off x="2377439" y="3419855"/>
            <a:ext cx="9144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2 096</a:t>
            </a:r>
          </a:p>
        </p:txBody>
      </p:sp>
      <p:sp>
        <p:nvSpPr>
          <p:cNvPr id="823" name="Google Shape;859;p22"/>
          <p:cNvSpPr/>
          <p:nvPr/>
        </p:nvSpPr>
        <p:spPr>
          <a:xfrm>
            <a:off x="3337559" y="3383279"/>
            <a:ext cx="1234441" cy="6705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24" name="Google Shape;860;p22"/>
          <p:cNvSpPr txBox="1"/>
          <p:nvPr/>
        </p:nvSpPr>
        <p:spPr>
          <a:xfrm>
            <a:off x="3383279" y="3419855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76,5 %</a:t>
            </a:r>
          </a:p>
        </p:txBody>
      </p:sp>
      <p:sp>
        <p:nvSpPr>
          <p:cNvPr id="825" name="Google Shape;861;p22"/>
          <p:cNvSpPr/>
          <p:nvPr/>
        </p:nvSpPr>
        <p:spPr>
          <a:xfrm>
            <a:off x="4571999" y="3383279"/>
            <a:ext cx="1234442" cy="6705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26" name="Google Shape;862;p22"/>
          <p:cNvSpPr txBox="1"/>
          <p:nvPr/>
        </p:nvSpPr>
        <p:spPr>
          <a:xfrm>
            <a:off x="4617720" y="3419855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0,7 %</a:t>
            </a:r>
          </a:p>
        </p:txBody>
      </p:sp>
      <p:sp>
        <p:nvSpPr>
          <p:cNvPr id="827" name="Google Shape;863;p22"/>
          <p:cNvSpPr/>
          <p:nvPr/>
        </p:nvSpPr>
        <p:spPr>
          <a:xfrm>
            <a:off x="777239" y="4053840"/>
            <a:ext cx="1554482" cy="6705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28" name="Google Shape;864;p22"/>
          <p:cNvSpPr txBox="1"/>
          <p:nvPr/>
        </p:nvSpPr>
        <p:spPr>
          <a:xfrm>
            <a:off x="822960" y="4090415"/>
            <a:ext cx="146304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50–59</a:t>
            </a:r>
          </a:p>
        </p:txBody>
      </p:sp>
      <p:sp>
        <p:nvSpPr>
          <p:cNvPr id="829" name="Google Shape;865;p22"/>
          <p:cNvSpPr/>
          <p:nvPr/>
        </p:nvSpPr>
        <p:spPr>
          <a:xfrm>
            <a:off x="2331720" y="4053840"/>
            <a:ext cx="1005840" cy="6705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30" name="Google Shape;866;p22"/>
          <p:cNvSpPr txBox="1"/>
          <p:nvPr/>
        </p:nvSpPr>
        <p:spPr>
          <a:xfrm>
            <a:off x="2377439" y="4090415"/>
            <a:ext cx="9144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1 351</a:t>
            </a:r>
          </a:p>
        </p:txBody>
      </p:sp>
      <p:sp>
        <p:nvSpPr>
          <p:cNvPr id="831" name="Google Shape;867;p22"/>
          <p:cNvSpPr/>
          <p:nvPr/>
        </p:nvSpPr>
        <p:spPr>
          <a:xfrm>
            <a:off x="3337559" y="4053840"/>
            <a:ext cx="1234441" cy="6705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32" name="Google Shape;868;p22"/>
          <p:cNvSpPr txBox="1"/>
          <p:nvPr/>
        </p:nvSpPr>
        <p:spPr>
          <a:xfrm>
            <a:off x="3383279" y="4090415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76,9 %</a:t>
            </a:r>
          </a:p>
        </p:txBody>
      </p:sp>
      <p:sp>
        <p:nvSpPr>
          <p:cNvPr id="833" name="Google Shape;869;p22"/>
          <p:cNvSpPr/>
          <p:nvPr/>
        </p:nvSpPr>
        <p:spPr>
          <a:xfrm>
            <a:off x="4571999" y="4053840"/>
            <a:ext cx="1234442" cy="6705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34" name="Google Shape;870;p22"/>
          <p:cNvSpPr txBox="1"/>
          <p:nvPr/>
        </p:nvSpPr>
        <p:spPr>
          <a:xfrm>
            <a:off x="4617720" y="4090415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1,2 %</a:t>
            </a:r>
          </a:p>
        </p:txBody>
      </p:sp>
      <p:sp>
        <p:nvSpPr>
          <p:cNvPr id="835" name="Google Shape;871;p22"/>
          <p:cNvSpPr/>
          <p:nvPr/>
        </p:nvSpPr>
        <p:spPr>
          <a:xfrm>
            <a:off x="777239" y="4724400"/>
            <a:ext cx="1554482" cy="67056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36" name="Google Shape;872;p22"/>
          <p:cNvSpPr txBox="1"/>
          <p:nvPr/>
        </p:nvSpPr>
        <p:spPr>
          <a:xfrm>
            <a:off x="822960" y="4760976"/>
            <a:ext cx="146304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60+</a:t>
            </a:r>
          </a:p>
        </p:txBody>
      </p:sp>
      <p:sp>
        <p:nvSpPr>
          <p:cNvPr id="837" name="Google Shape;873;p22"/>
          <p:cNvSpPr/>
          <p:nvPr/>
        </p:nvSpPr>
        <p:spPr>
          <a:xfrm>
            <a:off x="2331720" y="4724400"/>
            <a:ext cx="1005840" cy="67056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38" name="Google Shape;874;p22"/>
          <p:cNvSpPr txBox="1"/>
          <p:nvPr/>
        </p:nvSpPr>
        <p:spPr>
          <a:xfrm>
            <a:off x="2377439" y="4760976"/>
            <a:ext cx="9144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244</a:t>
            </a:r>
          </a:p>
        </p:txBody>
      </p:sp>
      <p:sp>
        <p:nvSpPr>
          <p:cNvPr id="839" name="Google Shape;875;p22"/>
          <p:cNvSpPr/>
          <p:nvPr/>
        </p:nvSpPr>
        <p:spPr>
          <a:xfrm>
            <a:off x="3337559" y="4724400"/>
            <a:ext cx="1234441" cy="67056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40" name="Google Shape;876;p22"/>
          <p:cNvSpPr txBox="1"/>
          <p:nvPr/>
        </p:nvSpPr>
        <p:spPr>
          <a:xfrm>
            <a:off x="3383279" y="4760976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57,3 %</a:t>
            </a:r>
          </a:p>
        </p:txBody>
      </p:sp>
      <p:sp>
        <p:nvSpPr>
          <p:cNvPr id="841" name="Google Shape;877;p22"/>
          <p:cNvSpPr/>
          <p:nvPr/>
        </p:nvSpPr>
        <p:spPr>
          <a:xfrm>
            <a:off x="4571999" y="4724400"/>
            <a:ext cx="1234442" cy="670560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42" name="Google Shape;878;p22"/>
          <p:cNvSpPr txBox="1"/>
          <p:nvPr/>
        </p:nvSpPr>
        <p:spPr>
          <a:xfrm>
            <a:off x="4617720" y="4760976"/>
            <a:ext cx="1143001" cy="597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1000">
                <a:solidFill>
                  <a:srgbClr val="DCE5F2"/>
                </a:solidFill>
              </a:defRPr>
            </a:lvl1pPr>
          </a:lstStyle>
          <a:p>
            <a:pPr/>
            <a:r>
              <a:t>12,8 %</a:t>
            </a:r>
          </a:p>
        </p:txBody>
      </p:sp>
      <p:sp>
        <p:nvSpPr>
          <p:cNvPr id="843" name="Google Shape;879;p22"/>
          <p:cNvSpPr/>
          <p:nvPr/>
        </p:nvSpPr>
        <p:spPr>
          <a:xfrm>
            <a:off x="6217920" y="1371600"/>
            <a:ext cx="4572001" cy="4023360"/>
          </a:xfrm>
          <a:prstGeom prst="roundRect">
            <a:avLst>
              <a:gd name="adj" fmla="val 1818"/>
            </a:avLst>
          </a:prstGeom>
          <a:solidFill>
            <a:srgbClr val="101827"/>
          </a:solidFill>
          <a:ln w="12700"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44" name="Google Shape;880;p22"/>
          <p:cNvSpPr txBox="1"/>
          <p:nvPr/>
        </p:nvSpPr>
        <p:spPr>
          <a:xfrm>
            <a:off x="6537959" y="1744909"/>
            <a:ext cx="22860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800">
                <a:solidFill>
                  <a:srgbClr val="F8FAFC"/>
                </a:solidFill>
              </a:defRPr>
            </a:lvl1pPr>
          </a:lstStyle>
          <a:p>
            <a:pPr/>
            <a:r>
              <a:t>Points d’attention</a:t>
            </a:r>
          </a:p>
        </p:txBody>
      </p:sp>
      <p:sp>
        <p:nvSpPr>
          <p:cNvPr id="845" name="Google Shape;881;p22"/>
          <p:cNvSpPr txBox="1"/>
          <p:nvPr/>
        </p:nvSpPr>
        <p:spPr>
          <a:xfrm>
            <a:off x="6537959" y="2285999"/>
            <a:ext cx="3703321" cy="2103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FNR élevé dans toutes les tranches</a:t>
            </a:r>
          </a:p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Les 60+ ont un FPR nettement supérieur</a:t>
            </a:r>
          </a:p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Les effectifs sont très différents selon les groupes</a:t>
            </a:r>
          </a:p>
          <a:p>
            <a:pPr marL="228600" indent="-228600">
              <a:buClr>
                <a:srgbClr val="DCE5F2"/>
              </a:buClr>
              <a:buSzPts val="1300"/>
              <a:buFont typeface="Arial"/>
              <a:buChar char="•"/>
              <a:defRPr sz="1300">
                <a:solidFill>
                  <a:srgbClr val="DCE5F2"/>
                </a:solidFill>
              </a:defRPr>
            </a:pPr>
            <a:r>
              <a:t>Ces métriques complètent le taux de sélection top-k</a:t>
            </a:r>
          </a:p>
        </p:txBody>
      </p:sp>
      <p:sp>
        <p:nvSpPr>
          <p:cNvPr id="846" name="Google Shape;882;p22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88;p23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Annexe — Comparaison synthétique des scénarios</a:t>
            </a:r>
          </a:p>
        </p:txBody>
      </p:sp>
      <p:sp>
        <p:nvSpPr>
          <p:cNvPr id="849" name="Google Shape;889;p23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Valeurs issues de la validation croisée</a:t>
            </a:r>
          </a:p>
        </p:txBody>
      </p:sp>
      <p:sp>
        <p:nvSpPr>
          <p:cNvPr id="850" name="Google Shape;890;p23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51" name="Google Shape;891;p23"/>
          <p:cNvSpPr/>
          <p:nvPr/>
        </p:nvSpPr>
        <p:spPr>
          <a:xfrm>
            <a:off x="502919" y="1371599"/>
            <a:ext cx="1417321" cy="822962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52" name="Google Shape;892;p23"/>
          <p:cNvSpPr txBox="1"/>
          <p:nvPr/>
        </p:nvSpPr>
        <p:spPr>
          <a:xfrm>
            <a:off x="548639" y="1408175"/>
            <a:ext cx="132588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Scénario</a:t>
            </a:r>
          </a:p>
        </p:txBody>
      </p:sp>
      <p:sp>
        <p:nvSpPr>
          <p:cNvPr id="853" name="Google Shape;893;p23"/>
          <p:cNvSpPr/>
          <p:nvPr/>
        </p:nvSpPr>
        <p:spPr>
          <a:xfrm>
            <a:off x="1920239" y="1371599"/>
            <a:ext cx="1645921" cy="822962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54" name="Google Shape;894;p23"/>
          <p:cNvSpPr txBox="1"/>
          <p:nvPr/>
        </p:nvSpPr>
        <p:spPr>
          <a:xfrm>
            <a:off x="1965960" y="1408175"/>
            <a:ext cx="155448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Modèle rep.</a:t>
            </a:r>
          </a:p>
        </p:txBody>
      </p:sp>
      <p:sp>
        <p:nvSpPr>
          <p:cNvPr id="855" name="Google Shape;895;p23"/>
          <p:cNvSpPr/>
          <p:nvPr/>
        </p:nvSpPr>
        <p:spPr>
          <a:xfrm>
            <a:off x="3566159" y="1371599"/>
            <a:ext cx="1234441" cy="822962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56" name="Google Shape;896;p23"/>
          <p:cNvSpPr txBox="1"/>
          <p:nvPr/>
        </p:nvSpPr>
        <p:spPr>
          <a:xfrm>
            <a:off x="3611879" y="1408175"/>
            <a:ext cx="11430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F1 CV</a:t>
            </a:r>
          </a:p>
        </p:txBody>
      </p:sp>
      <p:sp>
        <p:nvSpPr>
          <p:cNvPr id="857" name="Google Shape;897;p23"/>
          <p:cNvSpPr/>
          <p:nvPr/>
        </p:nvSpPr>
        <p:spPr>
          <a:xfrm>
            <a:off x="4800599" y="1371599"/>
            <a:ext cx="1325882" cy="822962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58" name="Google Shape;898;p23"/>
          <p:cNvSpPr txBox="1"/>
          <p:nvPr/>
        </p:nvSpPr>
        <p:spPr>
          <a:xfrm>
            <a:off x="4846320" y="1408175"/>
            <a:ext cx="123444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Précision</a:t>
            </a:r>
          </a:p>
        </p:txBody>
      </p:sp>
      <p:sp>
        <p:nvSpPr>
          <p:cNvPr id="859" name="Google Shape;899;p23"/>
          <p:cNvSpPr/>
          <p:nvPr/>
        </p:nvSpPr>
        <p:spPr>
          <a:xfrm>
            <a:off x="6126479" y="1371599"/>
            <a:ext cx="1325881" cy="822962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60" name="Google Shape;900;p23"/>
          <p:cNvSpPr txBox="1"/>
          <p:nvPr/>
        </p:nvSpPr>
        <p:spPr>
          <a:xfrm>
            <a:off x="6172199" y="1408175"/>
            <a:ext cx="123444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ROC-AUC</a:t>
            </a:r>
          </a:p>
        </p:txBody>
      </p:sp>
      <p:sp>
        <p:nvSpPr>
          <p:cNvPr id="861" name="Google Shape;901;p23"/>
          <p:cNvSpPr/>
          <p:nvPr/>
        </p:nvSpPr>
        <p:spPr>
          <a:xfrm>
            <a:off x="7452359" y="1371599"/>
            <a:ext cx="4206241" cy="822962"/>
          </a:xfrm>
          <a:prstGeom prst="rect">
            <a:avLst/>
          </a:prstGeom>
          <a:solidFill>
            <a:srgbClr val="162033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62" name="Google Shape;902;p23"/>
          <p:cNvSpPr txBox="1"/>
          <p:nvPr/>
        </p:nvSpPr>
        <p:spPr>
          <a:xfrm>
            <a:off x="7498080" y="1408175"/>
            <a:ext cx="41148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Verdict</a:t>
            </a:r>
          </a:p>
        </p:txBody>
      </p:sp>
      <p:sp>
        <p:nvSpPr>
          <p:cNvPr id="863" name="Google Shape;903;p23"/>
          <p:cNvSpPr/>
          <p:nvPr/>
        </p:nvSpPr>
        <p:spPr>
          <a:xfrm>
            <a:off x="502919" y="2194560"/>
            <a:ext cx="1417321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64" name="Google Shape;904;p23"/>
          <p:cNvSpPr txBox="1"/>
          <p:nvPr/>
        </p:nvSpPr>
        <p:spPr>
          <a:xfrm>
            <a:off x="548639" y="2231135"/>
            <a:ext cx="132588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S1</a:t>
            </a:r>
          </a:p>
        </p:txBody>
      </p:sp>
      <p:sp>
        <p:nvSpPr>
          <p:cNvPr id="865" name="Google Shape;905;p23"/>
          <p:cNvSpPr/>
          <p:nvPr/>
        </p:nvSpPr>
        <p:spPr>
          <a:xfrm>
            <a:off x="1920239" y="2194560"/>
            <a:ext cx="1645921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66" name="Google Shape;906;p23"/>
          <p:cNvSpPr txBox="1"/>
          <p:nvPr/>
        </p:nvSpPr>
        <p:spPr>
          <a:xfrm>
            <a:off x="1965960" y="2231135"/>
            <a:ext cx="155448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GB</a:t>
            </a:r>
          </a:p>
        </p:txBody>
      </p:sp>
      <p:sp>
        <p:nvSpPr>
          <p:cNvPr id="867" name="Google Shape;907;p23"/>
          <p:cNvSpPr/>
          <p:nvPr/>
        </p:nvSpPr>
        <p:spPr>
          <a:xfrm>
            <a:off x="3566159" y="2194560"/>
            <a:ext cx="1234441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68" name="Google Shape;908;p23"/>
          <p:cNvSpPr txBox="1"/>
          <p:nvPr/>
        </p:nvSpPr>
        <p:spPr>
          <a:xfrm>
            <a:off x="3611879" y="2231135"/>
            <a:ext cx="11430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0,581</a:t>
            </a:r>
          </a:p>
        </p:txBody>
      </p:sp>
      <p:sp>
        <p:nvSpPr>
          <p:cNvPr id="869" name="Google Shape;909;p23"/>
          <p:cNvSpPr/>
          <p:nvPr/>
        </p:nvSpPr>
        <p:spPr>
          <a:xfrm>
            <a:off x="4800599" y="2194560"/>
            <a:ext cx="1325882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70" name="Google Shape;910;p23"/>
          <p:cNvSpPr txBox="1"/>
          <p:nvPr/>
        </p:nvSpPr>
        <p:spPr>
          <a:xfrm>
            <a:off x="4846320" y="2231135"/>
            <a:ext cx="123444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0,658</a:t>
            </a:r>
          </a:p>
        </p:txBody>
      </p:sp>
      <p:sp>
        <p:nvSpPr>
          <p:cNvPr id="871" name="Google Shape;911;p23"/>
          <p:cNvSpPr/>
          <p:nvPr/>
        </p:nvSpPr>
        <p:spPr>
          <a:xfrm>
            <a:off x="6126479" y="2194560"/>
            <a:ext cx="1325881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72" name="Google Shape;912;p23"/>
          <p:cNvSpPr txBox="1"/>
          <p:nvPr/>
        </p:nvSpPr>
        <p:spPr>
          <a:xfrm>
            <a:off x="6172199" y="2231135"/>
            <a:ext cx="123444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0,945</a:t>
            </a:r>
          </a:p>
        </p:txBody>
      </p:sp>
      <p:sp>
        <p:nvSpPr>
          <p:cNvPr id="873" name="Google Shape;913;p23"/>
          <p:cNvSpPr/>
          <p:nvPr/>
        </p:nvSpPr>
        <p:spPr>
          <a:xfrm>
            <a:off x="7452359" y="2194560"/>
            <a:ext cx="4206241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74" name="Google Shape;914;p23"/>
          <p:cNvSpPr txBox="1"/>
          <p:nvPr/>
        </p:nvSpPr>
        <p:spPr>
          <a:xfrm>
            <a:off x="7498080" y="2231135"/>
            <a:ext cx="41148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Référence uniquement</a:t>
            </a:r>
          </a:p>
        </p:txBody>
      </p:sp>
      <p:sp>
        <p:nvSpPr>
          <p:cNvPr id="875" name="Google Shape;915;p23"/>
          <p:cNvSpPr/>
          <p:nvPr/>
        </p:nvSpPr>
        <p:spPr>
          <a:xfrm>
            <a:off x="502919" y="3017520"/>
            <a:ext cx="1417321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76" name="Google Shape;916;p23"/>
          <p:cNvSpPr txBox="1"/>
          <p:nvPr/>
        </p:nvSpPr>
        <p:spPr>
          <a:xfrm>
            <a:off x="548639" y="3054095"/>
            <a:ext cx="132588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S2</a:t>
            </a:r>
          </a:p>
        </p:txBody>
      </p:sp>
      <p:sp>
        <p:nvSpPr>
          <p:cNvPr id="877" name="Google Shape;917;p23"/>
          <p:cNvSpPr/>
          <p:nvPr/>
        </p:nvSpPr>
        <p:spPr>
          <a:xfrm>
            <a:off x="1920239" y="3017520"/>
            <a:ext cx="1645921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78" name="Google Shape;918;p23"/>
          <p:cNvSpPr txBox="1"/>
          <p:nvPr/>
        </p:nvSpPr>
        <p:spPr>
          <a:xfrm>
            <a:off x="1965960" y="3054095"/>
            <a:ext cx="155448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RF</a:t>
            </a:r>
          </a:p>
        </p:txBody>
      </p:sp>
      <p:sp>
        <p:nvSpPr>
          <p:cNvPr id="879" name="Google Shape;919;p23"/>
          <p:cNvSpPr/>
          <p:nvPr/>
        </p:nvSpPr>
        <p:spPr>
          <a:xfrm>
            <a:off x="3566159" y="3017520"/>
            <a:ext cx="1234441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80" name="Google Shape;920;p23"/>
          <p:cNvSpPr txBox="1"/>
          <p:nvPr/>
        </p:nvSpPr>
        <p:spPr>
          <a:xfrm>
            <a:off x="3611879" y="3054095"/>
            <a:ext cx="11430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0,362</a:t>
            </a:r>
          </a:p>
        </p:txBody>
      </p:sp>
      <p:sp>
        <p:nvSpPr>
          <p:cNvPr id="881" name="Google Shape;921;p23"/>
          <p:cNvSpPr/>
          <p:nvPr/>
        </p:nvSpPr>
        <p:spPr>
          <a:xfrm>
            <a:off x="4800599" y="3017520"/>
            <a:ext cx="1325882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82" name="Google Shape;922;p23"/>
          <p:cNvSpPr txBox="1"/>
          <p:nvPr/>
        </p:nvSpPr>
        <p:spPr>
          <a:xfrm>
            <a:off x="4846320" y="3054095"/>
            <a:ext cx="123444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0,541</a:t>
            </a:r>
          </a:p>
        </p:txBody>
      </p:sp>
      <p:sp>
        <p:nvSpPr>
          <p:cNvPr id="883" name="Google Shape;923;p23"/>
          <p:cNvSpPr/>
          <p:nvPr/>
        </p:nvSpPr>
        <p:spPr>
          <a:xfrm>
            <a:off x="6126479" y="3017520"/>
            <a:ext cx="1325881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84" name="Google Shape;924;p23"/>
          <p:cNvSpPr txBox="1"/>
          <p:nvPr/>
        </p:nvSpPr>
        <p:spPr>
          <a:xfrm>
            <a:off x="6172199" y="3054095"/>
            <a:ext cx="123444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0,772</a:t>
            </a:r>
          </a:p>
        </p:txBody>
      </p:sp>
      <p:sp>
        <p:nvSpPr>
          <p:cNvPr id="885" name="Google Shape;925;p23"/>
          <p:cNvSpPr/>
          <p:nvPr/>
        </p:nvSpPr>
        <p:spPr>
          <a:xfrm>
            <a:off x="7452359" y="3017520"/>
            <a:ext cx="4206241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86" name="Google Shape;926;p23"/>
          <p:cNvSpPr txBox="1"/>
          <p:nvPr/>
        </p:nvSpPr>
        <p:spPr>
          <a:xfrm>
            <a:off x="7498080" y="3054095"/>
            <a:ext cx="41148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Pré-appel, socio-démo</a:t>
            </a:r>
          </a:p>
        </p:txBody>
      </p:sp>
      <p:sp>
        <p:nvSpPr>
          <p:cNvPr id="887" name="Google Shape;927;p23"/>
          <p:cNvSpPr/>
          <p:nvPr/>
        </p:nvSpPr>
        <p:spPr>
          <a:xfrm>
            <a:off x="502919" y="3840479"/>
            <a:ext cx="1417321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88" name="Google Shape;928;p23"/>
          <p:cNvSpPr txBox="1"/>
          <p:nvPr/>
        </p:nvSpPr>
        <p:spPr>
          <a:xfrm>
            <a:off x="548639" y="3877055"/>
            <a:ext cx="132588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S3</a:t>
            </a:r>
          </a:p>
        </p:txBody>
      </p:sp>
      <p:sp>
        <p:nvSpPr>
          <p:cNvPr id="889" name="Google Shape;929;p23"/>
          <p:cNvSpPr/>
          <p:nvPr/>
        </p:nvSpPr>
        <p:spPr>
          <a:xfrm>
            <a:off x="1920239" y="3840479"/>
            <a:ext cx="1645921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90" name="Google Shape;930;p23"/>
          <p:cNvSpPr txBox="1"/>
          <p:nvPr/>
        </p:nvSpPr>
        <p:spPr>
          <a:xfrm>
            <a:off x="1965960" y="3877055"/>
            <a:ext cx="155448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GB</a:t>
            </a:r>
          </a:p>
        </p:txBody>
      </p:sp>
      <p:sp>
        <p:nvSpPr>
          <p:cNvPr id="891" name="Google Shape;931;p23"/>
          <p:cNvSpPr/>
          <p:nvPr/>
        </p:nvSpPr>
        <p:spPr>
          <a:xfrm>
            <a:off x="3566159" y="3840479"/>
            <a:ext cx="1234441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92" name="Google Shape;932;p23"/>
          <p:cNvSpPr txBox="1"/>
          <p:nvPr/>
        </p:nvSpPr>
        <p:spPr>
          <a:xfrm>
            <a:off x="3611879" y="3877055"/>
            <a:ext cx="11430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0,357</a:t>
            </a:r>
          </a:p>
        </p:txBody>
      </p:sp>
      <p:sp>
        <p:nvSpPr>
          <p:cNvPr id="893" name="Google Shape;933;p23"/>
          <p:cNvSpPr/>
          <p:nvPr/>
        </p:nvSpPr>
        <p:spPr>
          <a:xfrm>
            <a:off x="4800599" y="3840479"/>
            <a:ext cx="1325882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94" name="Google Shape;934;p23"/>
          <p:cNvSpPr txBox="1"/>
          <p:nvPr/>
        </p:nvSpPr>
        <p:spPr>
          <a:xfrm>
            <a:off x="4846320" y="3877055"/>
            <a:ext cx="123444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0,673</a:t>
            </a:r>
          </a:p>
        </p:txBody>
      </p:sp>
      <p:sp>
        <p:nvSpPr>
          <p:cNvPr id="895" name="Google Shape;935;p23"/>
          <p:cNvSpPr/>
          <p:nvPr/>
        </p:nvSpPr>
        <p:spPr>
          <a:xfrm>
            <a:off x="6126479" y="3840479"/>
            <a:ext cx="1325881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96" name="Google Shape;936;p23"/>
          <p:cNvSpPr txBox="1"/>
          <p:nvPr/>
        </p:nvSpPr>
        <p:spPr>
          <a:xfrm>
            <a:off x="6172199" y="3877055"/>
            <a:ext cx="123444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0,796</a:t>
            </a:r>
          </a:p>
        </p:txBody>
      </p:sp>
      <p:sp>
        <p:nvSpPr>
          <p:cNvPr id="897" name="Google Shape;937;p23"/>
          <p:cNvSpPr/>
          <p:nvPr/>
        </p:nvSpPr>
        <p:spPr>
          <a:xfrm>
            <a:off x="7452359" y="3840479"/>
            <a:ext cx="4206241" cy="822961"/>
          </a:xfrm>
          <a:prstGeom prst="rect">
            <a:avLst/>
          </a:prstGeom>
          <a:solidFill>
            <a:srgbClr val="101827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898" name="Google Shape;938;p23"/>
          <p:cNvSpPr txBox="1"/>
          <p:nvPr/>
        </p:nvSpPr>
        <p:spPr>
          <a:xfrm>
            <a:off x="7498080" y="3877055"/>
            <a:ext cx="41148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Retenu</a:t>
            </a:r>
          </a:p>
        </p:txBody>
      </p:sp>
      <p:sp>
        <p:nvSpPr>
          <p:cNvPr id="899" name="Google Shape;939;p23"/>
          <p:cNvSpPr/>
          <p:nvPr/>
        </p:nvSpPr>
        <p:spPr>
          <a:xfrm>
            <a:off x="502919" y="4663440"/>
            <a:ext cx="1417321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00" name="Google Shape;940;p23"/>
          <p:cNvSpPr txBox="1"/>
          <p:nvPr/>
        </p:nvSpPr>
        <p:spPr>
          <a:xfrm>
            <a:off x="548639" y="4700015"/>
            <a:ext cx="132588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S4</a:t>
            </a:r>
          </a:p>
        </p:txBody>
      </p:sp>
      <p:sp>
        <p:nvSpPr>
          <p:cNvPr id="901" name="Google Shape;941;p23"/>
          <p:cNvSpPr/>
          <p:nvPr/>
        </p:nvSpPr>
        <p:spPr>
          <a:xfrm>
            <a:off x="1920239" y="4663440"/>
            <a:ext cx="1645921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02" name="Google Shape;942;p23"/>
          <p:cNvSpPr txBox="1"/>
          <p:nvPr/>
        </p:nvSpPr>
        <p:spPr>
          <a:xfrm>
            <a:off x="1965960" y="4700015"/>
            <a:ext cx="155448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RF</a:t>
            </a:r>
          </a:p>
        </p:txBody>
      </p:sp>
      <p:sp>
        <p:nvSpPr>
          <p:cNvPr id="903" name="Google Shape;943;p23"/>
          <p:cNvSpPr/>
          <p:nvPr/>
        </p:nvSpPr>
        <p:spPr>
          <a:xfrm>
            <a:off x="3566159" y="4663440"/>
            <a:ext cx="1234441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04" name="Google Shape;944;p23"/>
          <p:cNvSpPr txBox="1"/>
          <p:nvPr/>
        </p:nvSpPr>
        <p:spPr>
          <a:xfrm>
            <a:off x="3611879" y="4700015"/>
            <a:ext cx="11430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0,342</a:t>
            </a:r>
          </a:p>
        </p:txBody>
      </p:sp>
      <p:sp>
        <p:nvSpPr>
          <p:cNvPr id="905" name="Google Shape;945;p23"/>
          <p:cNvSpPr/>
          <p:nvPr/>
        </p:nvSpPr>
        <p:spPr>
          <a:xfrm>
            <a:off x="4800599" y="4663440"/>
            <a:ext cx="1325882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06" name="Google Shape;946;p23"/>
          <p:cNvSpPr txBox="1"/>
          <p:nvPr/>
        </p:nvSpPr>
        <p:spPr>
          <a:xfrm>
            <a:off x="4846320" y="4700015"/>
            <a:ext cx="123444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0,520</a:t>
            </a:r>
          </a:p>
        </p:txBody>
      </p:sp>
      <p:sp>
        <p:nvSpPr>
          <p:cNvPr id="907" name="Google Shape;947;p23"/>
          <p:cNvSpPr/>
          <p:nvPr/>
        </p:nvSpPr>
        <p:spPr>
          <a:xfrm>
            <a:off x="6126479" y="4663440"/>
            <a:ext cx="1325881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08" name="Google Shape;948;p23"/>
          <p:cNvSpPr txBox="1"/>
          <p:nvPr/>
        </p:nvSpPr>
        <p:spPr>
          <a:xfrm>
            <a:off x="6172199" y="4700015"/>
            <a:ext cx="1234442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0,757</a:t>
            </a:r>
          </a:p>
        </p:txBody>
      </p:sp>
      <p:sp>
        <p:nvSpPr>
          <p:cNvPr id="909" name="Google Shape;949;p23"/>
          <p:cNvSpPr/>
          <p:nvPr/>
        </p:nvSpPr>
        <p:spPr>
          <a:xfrm>
            <a:off x="7452359" y="4663440"/>
            <a:ext cx="4206241" cy="822961"/>
          </a:xfrm>
          <a:prstGeom prst="rect">
            <a:avLst/>
          </a:prstGeom>
          <a:solidFill>
            <a:srgbClr val="0F192A"/>
          </a:solidFill>
          <a:ln>
            <a:solidFill>
              <a:srgbClr val="233049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10" name="Google Shape;950;p23"/>
          <p:cNvSpPr txBox="1"/>
          <p:nvPr/>
        </p:nvSpPr>
        <p:spPr>
          <a:xfrm>
            <a:off x="7498080" y="4700015"/>
            <a:ext cx="4114801" cy="749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sz="900">
                <a:solidFill>
                  <a:srgbClr val="DCE5F2"/>
                </a:solidFill>
              </a:defRPr>
            </a:lvl1pPr>
          </a:lstStyle>
          <a:p>
            <a:pPr/>
            <a:r>
              <a:t>Plus sobre, moins performant</a:t>
            </a:r>
          </a:p>
        </p:txBody>
      </p:sp>
      <p:sp>
        <p:nvSpPr>
          <p:cNvPr id="911" name="Google Shape;951;p23"/>
          <p:cNvSpPr txBox="1"/>
          <p:nvPr/>
        </p:nvSpPr>
        <p:spPr>
          <a:xfrm>
            <a:off x="731519" y="5669279"/>
            <a:ext cx="10789922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300">
                <a:solidFill>
                  <a:srgbClr val="42E8C6"/>
                </a:solidFill>
              </a:defRPr>
            </a:lvl1pPr>
          </a:lstStyle>
          <a:p>
            <a:pPr/>
            <a:r>
              <a:t>Pourquoi S3 malgré un F1 inférieur à RF sur S3 ? → le choix final se fait à capacité constante, pas au seuil 0,5</a:t>
            </a:r>
          </a:p>
        </p:txBody>
      </p:sp>
      <p:sp>
        <p:nvSpPr>
          <p:cNvPr id="912" name="Google Shape;952;p23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58;p24"/>
          <p:cNvSpPr txBox="1"/>
          <p:nvPr/>
        </p:nvSpPr>
        <p:spPr>
          <a:xfrm>
            <a:off x="502919" y="484631"/>
            <a:ext cx="11155682" cy="393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96111">
              <a:defRPr b="1" sz="2646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Annexe — Plan de monitoring et amélioration continue</a:t>
            </a:r>
          </a:p>
        </p:txBody>
      </p:sp>
      <p:sp>
        <p:nvSpPr>
          <p:cNvPr id="915" name="Google Shape;959;p24"/>
          <p:cNvSpPr txBox="1"/>
          <p:nvPr/>
        </p:nvSpPr>
        <p:spPr>
          <a:xfrm>
            <a:off x="512063" y="914400"/>
            <a:ext cx="10698482" cy="256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200">
                <a:solidFill>
                  <a:srgbClr val="8EA0B8"/>
                </a:solidFill>
              </a:defRPr>
            </a:lvl1pPr>
          </a:lstStyle>
          <a:p>
            <a:pPr/>
            <a:r>
              <a:t>Une alerte déclenche une analyse, pas un remplacement automatique</a:t>
            </a:r>
          </a:p>
        </p:txBody>
      </p:sp>
      <p:sp>
        <p:nvSpPr>
          <p:cNvPr id="916" name="Google Shape;960;p24"/>
          <p:cNvSpPr/>
          <p:nvPr/>
        </p:nvSpPr>
        <p:spPr>
          <a:xfrm>
            <a:off x="512063" y="1225296"/>
            <a:ext cx="1005841" cy="1"/>
          </a:xfrm>
          <a:prstGeom prst="line">
            <a:avLst/>
          </a:prstGeom>
          <a:ln w="30475">
            <a:solidFill>
              <a:srgbClr val="42E8C6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17" name="Google Shape;961;p24"/>
          <p:cNvSpPr/>
          <p:nvPr/>
        </p:nvSpPr>
        <p:spPr>
          <a:xfrm>
            <a:off x="502919" y="1417319"/>
            <a:ext cx="2606041" cy="4251961"/>
          </a:xfrm>
          <a:prstGeom prst="roundRect">
            <a:avLst>
              <a:gd name="adj" fmla="val 2807"/>
            </a:avLst>
          </a:prstGeom>
          <a:solidFill>
            <a:srgbClr val="101827"/>
          </a:solidFill>
          <a:ln w="16500">
            <a:solidFill>
              <a:srgbClr val="42E8C6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18" name="Google Shape;962;p24"/>
          <p:cNvSpPr txBox="1"/>
          <p:nvPr/>
        </p:nvSpPr>
        <p:spPr>
          <a:xfrm>
            <a:off x="685800" y="1809263"/>
            <a:ext cx="224028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42E8C6"/>
                </a:solidFill>
              </a:defRPr>
            </a:lvl1pPr>
          </a:lstStyle>
          <a:p>
            <a:pPr/>
            <a:r>
              <a:t>Continu</a:t>
            </a:r>
          </a:p>
        </p:txBody>
      </p:sp>
      <p:sp>
        <p:nvSpPr>
          <p:cNvPr id="919" name="Google Shape;963;p24"/>
          <p:cNvSpPr txBox="1"/>
          <p:nvPr/>
        </p:nvSpPr>
        <p:spPr>
          <a:xfrm>
            <a:off x="758951" y="2331720"/>
            <a:ext cx="2103122" cy="2560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Disponibilité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Erreurs API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Latence p95</a:t>
            </a:r>
          </a:p>
        </p:txBody>
      </p:sp>
      <p:sp>
        <p:nvSpPr>
          <p:cNvPr id="920" name="Google Shape;964;p24"/>
          <p:cNvSpPr/>
          <p:nvPr/>
        </p:nvSpPr>
        <p:spPr>
          <a:xfrm>
            <a:off x="3383279" y="1417319"/>
            <a:ext cx="2606041" cy="4251961"/>
          </a:xfrm>
          <a:prstGeom prst="roundRect">
            <a:avLst>
              <a:gd name="adj" fmla="val 2807"/>
            </a:avLst>
          </a:prstGeom>
          <a:solidFill>
            <a:srgbClr val="101827"/>
          </a:solidFill>
          <a:ln w="16500">
            <a:solidFill>
              <a:srgbClr val="55C7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21" name="Google Shape;965;p24"/>
          <p:cNvSpPr txBox="1"/>
          <p:nvPr/>
        </p:nvSpPr>
        <p:spPr>
          <a:xfrm>
            <a:off x="3566159" y="1809263"/>
            <a:ext cx="224028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55C7FF"/>
                </a:solidFill>
              </a:defRPr>
            </a:lvl1pPr>
          </a:lstStyle>
          <a:p>
            <a:pPr/>
            <a:r>
              <a:t>Quotidien / hebdo</a:t>
            </a:r>
          </a:p>
        </p:txBody>
      </p:sp>
      <p:sp>
        <p:nvSpPr>
          <p:cNvPr id="922" name="Google Shape;966;p24"/>
          <p:cNvSpPr txBox="1"/>
          <p:nvPr/>
        </p:nvSpPr>
        <p:spPr>
          <a:xfrm>
            <a:off x="3639311" y="2331720"/>
            <a:ext cx="2103122" cy="2560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Qualité des entrées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Distribution des scores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PSI / drift</a:t>
            </a:r>
          </a:p>
        </p:txBody>
      </p:sp>
      <p:sp>
        <p:nvSpPr>
          <p:cNvPr id="923" name="Google Shape;967;p24"/>
          <p:cNvSpPr/>
          <p:nvPr/>
        </p:nvSpPr>
        <p:spPr>
          <a:xfrm>
            <a:off x="6263640" y="1417319"/>
            <a:ext cx="2606041" cy="4251961"/>
          </a:xfrm>
          <a:prstGeom prst="roundRect">
            <a:avLst>
              <a:gd name="adj" fmla="val 2807"/>
            </a:avLst>
          </a:prstGeom>
          <a:solidFill>
            <a:srgbClr val="101827"/>
          </a:solidFill>
          <a:ln w="16500">
            <a:solidFill>
              <a:srgbClr val="FFB547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24" name="Google Shape;968;p24"/>
          <p:cNvSpPr txBox="1"/>
          <p:nvPr/>
        </p:nvSpPr>
        <p:spPr>
          <a:xfrm>
            <a:off x="6446520" y="1809263"/>
            <a:ext cx="224028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B547"/>
                </a:solidFill>
              </a:defRPr>
            </a:lvl1pPr>
          </a:lstStyle>
          <a:p>
            <a:pPr/>
            <a:r>
              <a:t>Après campagne</a:t>
            </a:r>
          </a:p>
        </p:txBody>
      </p:sp>
      <p:sp>
        <p:nvSpPr>
          <p:cNvPr id="925" name="Google Shape;969;p24"/>
          <p:cNvSpPr txBox="1"/>
          <p:nvPr/>
        </p:nvSpPr>
        <p:spPr>
          <a:xfrm>
            <a:off x="6519671" y="2331720"/>
            <a:ext cx="2103121" cy="2560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Précision top-k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Lift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Souscripteurs captés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Calibration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Équité</a:t>
            </a:r>
          </a:p>
        </p:txBody>
      </p:sp>
      <p:sp>
        <p:nvSpPr>
          <p:cNvPr id="926" name="Google Shape;970;p24"/>
          <p:cNvSpPr/>
          <p:nvPr/>
        </p:nvSpPr>
        <p:spPr>
          <a:xfrm>
            <a:off x="9144000" y="1417319"/>
            <a:ext cx="2606040" cy="4251961"/>
          </a:xfrm>
          <a:prstGeom prst="roundRect">
            <a:avLst>
              <a:gd name="adj" fmla="val 2807"/>
            </a:avLst>
          </a:prstGeom>
          <a:solidFill>
            <a:srgbClr val="101827"/>
          </a:solidFill>
          <a:ln w="16500">
            <a:solidFill>
              <a:srgbClr val="B18CFF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927" name="Google Shape;971;p24"/>
          <p:cNvSpPr txBox="1"/>
          <p:nvPr/>
        </p:nvSpPr>
        <p:spPr>
          <a:xfrm>
            <a:off x="9326880" y="1809263"/>
            <a:ext cx="224028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B18CFF"/>
                </a:solidFill>
              </a:defRPr>
            </a:lvl1pPr>
          </a:lstStyle>
          <a:p>
            <a:pPr/>
            <a:r>
              <a:t>Trimestriel</a:t>
            </a:r>
          </a:p>
        </p:txBody>
      </p:sp>
      <p:sp>
        <p:nvSpPr>
          <p:cNvPr id="928" name="Google Shape;972;p24"/>
          <p:cNvSpPr txBox="1"/>
          <p:nvPr/>
        </p:nvSpPr>
        <p:spPr>
          <a:xfrm>
            <a:off x="9400031" y="2331720"/>
            <a:ext cx="2103121" cy="2560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75" tIns="375" rIns="375" bIns="375" anchor="ctr">
            <a:normAutofit fontScale="100000" lnSpcReduction="0"/>
          </a:bodyPr>
          <a:lstStyle/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Revue seuils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Capacité de ciblage</a:t>
            </a:r>
          </a:p>
          <a:p>
            <a:pPr marL="228600" indent="-228600">
              <a:buClr>
                <a:srgbClr val="DCE5F2"/>
              </a:buClr>
              <a:buSzPts val="1200"/>
              <a:buFont typeface="Arial"/>
              <a:buChar char="•"/>
              <a:defRPr sz="1200">
                <a:solidFill>
                  <a:srgbClr val="DCE5F2"/>
                </a:solidFill>
              </a:defRPr>
            </a:pPr>
            <a:r>
              <a:t>Champion / challenger</a:t>
            </a:r>
          </a:p>
        </p:txBody>
      </p:sp>
      <p:sp>
        <p:nvSpPr>
          <p:cNvPr id="929" name="Google Shape;973;p24"/>
          <p:cNvSpPr txBox="1"/>
          <p:nvPr>
            <p:ph type="sldNum" sz="quarter" idx="4294967295"/>
          </p:nvPr>
        </p:nvSpPr>
        <p:spPr>
          <a:xfrm>
            <a:off x="11668760" y="6601968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